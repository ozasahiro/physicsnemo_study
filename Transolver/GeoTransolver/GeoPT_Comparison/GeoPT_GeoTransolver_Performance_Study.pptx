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3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5f146c477b45dc" /><Relationship Type="http://schemas.openxmlformats.org/officeDocument/2006/relationships/extended-properties" Target="/docProps/app.xml" Id="R581fc731e6c24e60" /><Relationship Type="http://schemas.openxmlformats.org/officeDocument/2006/relationships/officeDocument" Target="/ppt/presentation.xml" Id="R36b18537103347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8bc0c3afb24728"/>
  </p:sldMasterIdLst>
  <p:notesMasterIdLst>
    <p:notesMasterId xmlns:r="http://schemas.openxmlformats.org/officeDocument/2006/relationships" r:id="R2895f3ccd6474f67"/>
  </p:notesMasterIdLst>
  <p:sldIdLst>
    <p:sldId xmlns:r="http://schemas.openxmlformats.org/officeDocument/2006/relationships" id="256" r:id="R6563aa9d20a6482e"/>
    <p:sldId xmlns:r="http://schemas.openxmlformats.org/officeDocument/2006/relationships" id="257" r:id="Rad08765821a94c2e"/>
    <p:sldId xmlns:r="http://schemas.openxmlformats.org/officeDocument/2006/relationships" id="258" r:id="Rf780781756134606"/>
    <p:sldId xmlns:r="http://schemas.openxmlformats.org/officeDocument/2006/relationships" id="259" r:id="R32f8333579e84fd7"/>
    <p:sldId xmlns:r="http://schemas.openxmlformats.org/officeDocument/2006/relationships" id="260" r:id="R316e640f1d6842ad"/>
    <p:sldId xmlns:r="http://schemas.openxmlformats.org/officeDocument/2006/relationships" id="261" r:id="Rd1a3096590694f19"/>
    <p:sldId xmlns:r="http://schemas.openxmlformats.org/officeDocument/2006/relationships" id="262" r:id="R1ba2db09664649ac"/>
    <p:sldId xmlns:r="http://schemas.openxmlformats.org/officeDocument/2006/relationships" id="263" r:id="R3695c4d9216c47be"/>
    <p:sldId xmlns:r="http://schemas.openxmlformats.org/officeDocument/2006/relationships" id="264" r:id="R872993b8246b4f20"/>
    <p:sldId xmlns:r="http://schemas.openxmlformats.org/officeDocument/2006/relationships" id="265" r:id="Ra479d8173fed45d3"/>
    <p:sldId xmlns:r="http://schemas.openxmlformats.org/officeDocument/2006/relationships" id="266" r:id="R276b2a052e37421d"/>
    <p:sldId xmlns:r="http://schemas.openxmlformats.org/officeDocument/2006/relationships" id="267" r:id="R873f8a03f7a8459b"/>
    <p:sldId xmlns:r="http://schemas.openxmlformats.org/officeDocument/2006/relationships" id="268" r:id="Rbace2990f63f49da"/>
    <p:sldId xmlns:r="http://schemas.openxmlformats.org/officeDocument/2006/relationships" id="269" r:id="R2d05d8f43d4e4c9c"/>
    <p:sldId xmlns:r="http://schemas.openxmlformats.org/officeDocument/2006/relationships" id="270" r:id="R28c896d6b3ba49ea"/>
    <p:sldId xmlns:r="http://schemas.openxmlformats.org/officeDocument/2006/relationships" id="271" r:id="Rfb22f718736f4a54"/>
    <p:sldId xmlns:r="http://schemas.openxmlformats.org/officeDocument/2006/relationships" id="272" r:id="Rcdb2ba4a72304180"/>
    <p:sldId xmlns:r="http://schemas.openxmlformats.org/officeDocument/2006/relationships" id="273" r:id="R38a21cac434b40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2fca0749e24b29" /><Relationship Type="http://schemas.openxmlformats.org/officeDocument/2006/relationships/slideMaster" Target="/ppt/slideMasters/slideMaster1.xml" Id="R448bc0c3afb24728" /><Relationship Type="http://schemas.openxmlformats.org/officeDocument/2006/relationships/notesMaster" Target="/ppt/notesMasters/notesMaster1.xml" Id="R2895f3ccd6474f67" /><Relationship Type="http://schemas.openxmlformats.org/officeDocument/2006/relationships/presProps" Target="/ppt/presProps.xml" Id="R3afa3900fee049d3" /><Relationship Type="http://schemas.openxmlformats.org/officeDocument/2006/relationships/tableStyles" Target="/ppt/tableStyles.xml" Id="Re6563b2803874b4f" /><Relationship Type="http://schemas.openxmlformats.org/officeDocument/2006/relationships/slide" Target="/ppt/slides/slide1.xml" Id="R6563aa9d20a6482e" /><Relationship Type="http://schemas.openxmlformats.org/officeDocument/2006/relationships/slide" Target="/ppt/slides/slide2.xml" Id="Rad08765821a94c2e" /><Relationship Type="http://schemas.openxmlformats.org/officeDocument/2006/relationships/slide" Target="/ppt/slides/slide3.xml" Id="Rf780781756134606" /><Relationship Type="http://schemas.openxmlformats.org/officeDocument/2006/relationships/slide" Target="/ppt/slides/slide4.xml" Id="R32f8333579e84fd7" /><Relationship Type="http://schemas.openxmlformats.org/officeDocument/2006/relationships/slide" Target="/ppt/slides/slide5.xml" Id="R316e640f1d6842ad" /><Relationship Type="http://schemas.openxmlformats.org/officeDocument/2006/relationships/slide" Target="/ppt/slides/slide6.xml" Id="Rd1a3096590694f19" /><Relationship Type="http://schemas.openxmlformats.org/officeDocument/2006/relationships/slide" Target="/ppt/slides/slide7.xml" Id="R1ba2db09664649ac" /><Relationship Type="http://schemas.openxmlformats.org/officeDocument/2006/relationships/slide" Target="/ppt/slides/slide8.xml" Id="R3695c4d9216c47be" /><Relationship Type="http://schemas.openxmlformats.org/officeDocument/2006/relationships/slide" Target="/ppt/slides/slide9.xml" Id="R872993b8246b4f20" /><Relationship Type="http://schemas.openxmlformats.org/officeDocument/2006/relationships/slide" Target="/ppt/slides/slide10.xml" Id="Ra479d8173fed45d3" /><Relationship Type="http://schemas.openxmlformats.org/officeDocument/2006/relationships/slide" Target="/ppt/slides/slide11.xml" Id="R276b2a052e37421d" /><Relationship Type="http://schemas.openxmlformats.org/officeDocument/2006/relationships/slide" Target="/ppt/slides/slide12.xml" Id="R873f8a03f7a8459b" /><Relationship Type="http://schemas.openxmlformats.org/officeDocument/2006/relationships/slide" Target="/ppt/slides/slide13.xml" Id="Rbace2990f63f49da" /><Relationship Type="http://schemas.openxmlformats.org/officeDocument/2006/relationships/slide" Target="/ppt/slides/slide14.xml" Id="R2d05d8f43d4e4c9c" /><Relationship Type="http://schemas.openxmlformats.org/officeDocument/2006/relationships/slide" Target="/ppt/slides/slide15.xml" Id="R28c896d6b3ba49ea" /><Relationship Type="http://schemas.openxmlformats.org/officeDocument/2006/relationships/slide" Target="/ppt/slides/slide16.xml" Id="Rfb22f718736f4a54" /><Relationship Type="http://schemas.openxmlformats.org/officeDocument/2006/relationships/slide" Target="/ppt/slides/slide17.xml" Id="Rcdb2ba4a72304180" /><Relationship Type="http://schemas.openxmlformats.org/officeDocument/2006/relationships/slide" Target="/ppt/slides/slide18.xml" Id="R38a21cac434b40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c8db46963143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GeoPT GeoTransolver Study">
      <a:dk1>
        <a:srgbClr val="000000"/>
      </a:dk1>
      <a:lt1>
        <a:srgbClr val="FFFFFF"/>
      </a:lt1>
      <a:dk2>
        <a:srgbClr val="344054"/>
      </a:dk2>
      <a:lt2>
        <a:srgbClr val="EEF1F4"/>
      </a:lt2>
      <a:accent1>
        <a:srgbClr val="1769AA"/>
      </a:accent1>
      <a:accent2>
        <a:srgbClr val="11845B"/>
      </a:accent2>
      <a:accent3>
        <a:srgbClr val="D97706"/>
      </a:accent3>
      <a:accent4>
        <a:srgbClr val="C84B45"/>
      </a:accent4>
      <a:accent5>
        <a:srgbClr val="49566A"/>
      </a:accent5>
      <a:accent6>
        <a:srgbClr val="7A5AF8"/>
      </a:accent6>
      <a:hlink>
        <a:srgbClr val="1769AA"/>
      </a:hlink>
      <a:folHlink>
        <a:srgbClr val="7A5AF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eoPT GeoTransolver Stud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a0552eded74186" /><Relationship Type="http://schemas.openxmlformats.org/officeDocument/2006/relationships/notesMaster" Target="/ppt/notesMasters/notesMaster1.xml" Id="R5898609f00614f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ff93de7db84d39" /><Relationship Type="http://schemas.openxmlformats.org/officeDocument/2006/relationships/notesMaster" Target="/ppt/notesMasters/notesMaster1.xml" Id="R19a56c1a9bfc4d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b205d011cf4fad" /><Relationship Type="http://schemas.openxmlformats.org/officeDocument/2006/relationships/notesMaster" Target="/ppt/notesMasters/notesMaster1.xml" Id="R802314b4541e43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c4f74fa26e4b74" /><Relationship Type="http://schemas.openxmlformats.org/officeDocument/2006/relationships/notesMaster" Target="/ppt/notesMasters/notesMaster1.xml" Id="R87b2bc77638542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a2204b1e6f480a" /><Relationship Type="http://schemas.openxmlformats.org/officeDocument/2006/relationships/notesMaster" Target="/ppt/notesMasters/notesMaster1.xml" Id="R15d86835dbd14c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d0c0023896460e" /><Relationship Type="http://schemas.openxmlformats.org/officeDocument/2006/relationships/notesMaster" Target="/ppt/notesMasters/notesMaster1.xml" Id="Rbe953418162e44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c5c1f05baa45be" /><Relationship Type="http://schemas.openxmlformats.org/officeDocument/2006/relationships/notesMaster" Target="/ppt/notesMasters/notesMaster1.xml" Id="R6a5337f66d5545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0bcdd7c0474382" /><Relationship Type="http://schemas.openxmlformats.org/officeDocument/2006/relationships/notesMaster" Target="/ppt/notesMasters/notesMaster1.xml" Id="R0fccb842bcc649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1caa93af9148a7" /><Relationship Type="http://schemas.openxmlformats.org/officeDocument/2006/relationships/notesMaster" Target="/ppt/notesMasters/notesMaster1.xml" Id="R9b36594a245b46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1fd8c71eb24567" /><Relationship Type="http://schemas.openxmlformats.org/officeDocument/2006/relationships/notesMaster" Target="/ppt/notesMasters/notesMaster1.xml" Id="R81c532967d0849b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9dfeafc7c0a4457" /><Relationship Type="http://schemas.openxmlformats.org/officeDocument/2006/relationships/notesMaster" Target="/ppt/notesMasters/notesMaster1.xml" Id="R27a2b9c0e3354a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036498259d478d" /><Relationship Type="http://schemas.openxmlformats.org/officeDocument/2006/relationships/notesMaster" Target="/ppt/notesMasters/notesMaster1.xml" Id="R448f7fccfa1344b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f3eb3561e164ba9" /><Relationship Type="http://schemas.openxmlformats.org/officeDocument/2006/relationships/notesMaster" Target="/ppt/notesMasters/notesMaster1.xml" Id="R26688040a74d410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513d05853bf4ab1" /><Relationship Type="http://schemas.openxmlformats.org/officeDocument/2006/relationships/notesMaster" Target="/ppt/notesMasters/notesMaster1.xml" Id="R0e090e7b477b4f0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53113ffdee745d1" /><Relationship Type="http://schemas.openxmlformats.org/officeDocument/2006/relationships/notesMaster" Target="/ppt/notesMasters/notesMaster1.xml" Id="R0400a0d87bef43b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f3cec9677e744c6" /><Relationship Type="http://schemas.openxmlformats.org/officeDocument/2006/relationships/notesMaster" Target="/ppt/notesMasters/notesMaster1.xml" Id="R052619f0d5b140c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6de7ad7e3934aaf" /><Relationship Type="http://schemas.openxmlformats.org/officeDocument/2006/relationships/notesMaster" Target="/ppt/notesMasters/notesMaster1.xml" Id="R0f9a85c0a678468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865f798692b4ee0" /><Relationship Type="http://schemas.openxmlformats.org/officeDocument/2006/relationships/notesMaster" Target="/ppt/notesMasters/notesMaster1.xml" Id="R871e71c9fb0e44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GeoPTとGeoTransolverの紹介に続く、実測比較パートの表紙。図は添付レポートの代表ケース可視化。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/Users/hiroaki/Downloads/GeoPT_実験報告書.docx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冒頭で比較の因果関係を明示する。Pressureの改善率はレポート値から算出。WSSは本文ではなく表の値を優先。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/Users/hiroaki/Downloads/GeoPT_実験報告書.docx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レポート1章の実験目的を、発表時に追いやすい3問へ再構成。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/Users/hiroaki/Downloads/GeoPT_実験報告書.docx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レポート2.1節の3ケース。A/B/Cのラベルは以後の図表で統一して使う。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/Users/hiroaki/Downloads/GeoPT_実験報告書.docx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レポート2.2節のデータ分割と評価対象。外挿はテスト集合の意図的な選び方であり、未知ドメイン全般を保証するものではない。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/Users/hiroaki/Downloads/GeoPT_実験報告書.docx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レポート3.1節。比較しやすいようB=100の誤差指数に正規化し、右側に原数値を併記。WSSの解釈は表の数値を優先。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/Users/hiroaki/Downloads/GeoPT_実験報告書.docx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図1と3.2節のパーセンタイル表。AはBより全パーセンタイルで小さい。一方、Cとの比較はp99.9などで順位が変わる。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/Users/hiroaki/Downloads/GeoPT_実験報告書.docx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レポート図2。モデル間差が最も大きかった代表ケースでも、Pressure場の目視差は小さい。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/Users/hiroaki/Downloads/GeoPT_実験報告書.docx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レポート図3。絶対誤差場は暗色が多く、差は局所的。位置の厳密な特定には元データでの3D確認が必要。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/Users/hiroaki/Downloads/GeoPT_実験報告書.docx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レポート4章。全パラメータ空間の距離では、B-A差との正相関が見られる。テスト10件のため探索的解釈に限定。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/Users/hiroaki/Downloads/GeoPT_実験報告書.docx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レポート6.1節。グラフはPressure相対L2を百分率表示。改善率は表のTrain40/Train80値から算出。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/Users/hiroaki/Downloads/GeoPT_実験報告書.docx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レポート6.2節。point-budget増加はp99.9、p99、上位1%平均を改善するが最大値は単調に低下しない。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/Users/hiroaki/Downloads/GeoPT_実験報告書.docx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レポート6.3〜6.4節。条件変更後のA/C比較と重み付きLossの主要結果。A/Cの条件名はレポート表記を簡略化。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/Users/hiroaki/Downloads/GeoPT_実験報告書.docx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レポート5章と6章を、結論と限界に分けて整理。WSSの表・本文不一致も明示。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/Users/hiroaki/Downloads/GeoPT_実験報告書.docx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ユーザー提示の比較観点を、論文v2/v3の表現に合わせて整理。GeoPTにも幾何入力はあるため、『暗黙的』は各層再参照経路の有無として説明する。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https://arxiv.org/html/2602.20399v2</a:t>
            </a:r>
          </a:p>
          <a:p xmlns:a="http://schemas.openxmlformats.org/drawingml/2006/main">
            <a:r>
              <a:t>- https://arxiv.org/html/2512.20399v3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比較後半。GeoTransolver v3は衝突力学も報告しているため、旧稿の『空力のみ』表現を更新。コストは論文の約2.1倍、GeoPTは1,346,300サンプル・200 epochを参照。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https://arxiv.org/html/2602.20399v2</a:t>
            </a:r>
          </a:p>
          <a:p xmlns:a="http://schemas.openxmlformats.org/drawingml/2006/main">
            <a:r>
              <a:t>- https://arxiv.org/html/2512.20399v3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ユーザー提示の本質1。GeoTransolverはgeometry dilution、GeoPTはlabel generation bottleneckへ対処する。両論文の目的と限界を統合した解釈。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https://arxiv.org/html/2602.20399v2</a:t>
            </a:r>
          </a:p>
          <a:p xmlns:a="http://schemas.openxmlformats.org/drawingml/2006/main">
            <a:r>
              <a:t>- https://arxiv.org/html/2512.20399v3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ユーザー提示の本質2。GeoPT論文はarchitecture-agnosticと明記し、他backboneへの拡張も報告。GeoTransolverへの適用自体は未実証であり、実装・検証課題として提示する。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https://arxiv.org/html/2602.20399v2</a:t>
            </a:r>
          </a:p>
          <a:p xmlns:a="http://schemas.openxmlformats.org/drawingml/2006/main">
            <a:r>
              <a:t>- https://arxiv.org/html/2512.20399v3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ae3c053b0242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681882cdc641e9" /><Relationship Type="http://schemas.openxmlformats.org/officeDocument/2006/relationships/slideLayout" Target="/ppt/slideLayouts/slideLayout1.xml" Id="R8b0e2d7f534349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0e2d7f534349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GeoPT GeoTransolver Study">
      <a:dk1>
        <a:srgbClr val="000000"/>
      </a:dk1>
      <a:lt1>
        <a:srgbClr val="FFFFFF"/>
      </a:lt1>
      <a:dk2>
        <a:srgbClr val="344054"/>
      </a:dk2>
      <a:lt2>
        <a:srgbClr val="EEF1F4"/>
      </a:lt2>
      <a:accent1>
        <a:srgbClr val="1769AA"/>
      </a:accent1>
      <a:accent2>
        <a:srgbClr val="11845B"/>
      </a:accent2>
      <a:accent3>
        <a:srgbClr val="D97706"/>
      </a:accent3>
      <a:accent4>
        <a:srgbClr val="C84B45"/>
      </a:accent4>
      <a:accent5>
        <a:srgbClr val="49566A"/>
      </a:accent5>
      <a:accent6>
        <a:srgbClr val="7A5AF8"/>
      </a:accent6>
      <a:hlink>
        <a:srgbClr val="1769AA"/>
      </a:hlink>
      <a:folHlink>
        <a:srgbClr val="7A5AF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eoPT GeoTransolver Stud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49af16106477d" /><Relationship Type="http://schemas.openxmlformats.org/officeDocument/2006/relationships/image" Target="/ppt/media/image.png" Id="R442264763b4b48c5" /><Relationship Type="http://schemas.openxmlformats.org/officeDocument/2006/relationships/notesSlide" Target="/ppt/notesSlides/notesSlide1.xml" Id="R96add0f7771b4e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5d9c6023c4b0c" /><Relationship Type="http://schemas.openxmlformats.org/officeDocument/2006/relationships/notesSlide" Target="/ppt/notesSlides/notesSlide2.xml" Id="R19a2bdf66ac14e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2da7bfd8164a2a" /><Relationship Type="http://schemas.openxmlformats.org/officeDocument/2006/relationships/notesSlide" Target="/ppt/notesSlides/notesSlide3.xml" Id="R309950ea643b4a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ae0cca6604b88" /><Relationship Type="http://schemas.openxmlformats.org/officeDocument/2006/relationships/notesSlide" Target="/ppt/notesSlides/notesSlide4.xml" Id="Ra9180006194549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018e7a69174299" /><Relationship Type="http://schemas.openxmlformats.org/officeDocument/2006/relationships/notesSlide" Target="/ppt/notesSlides/notesSlide5.xml" Id="R996b658091c740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ab07e05134830" /><Relationship Type="http://schemas.openxmlformats.org/officeDocument/2006/relationships/chart" Target="/ppt/slides/charts/chart1.xml" Id="Rcdb09120ff7648ec" /><Relationship Type="http://schemas.openxmlformats.org/officeDocument/2006/relationships/notesSlide" Target="/ppt/notesSlides/notesSlide6.xml" Id="Rfcfef68448d94c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1768c87c94bb4" /><Relationship Type="http://schemas.openxmlformats.org/officeDocument/2006/relationships/image" Target="/ppt/media/image2.png" Id="R44f7092e37fe4870" /><Relationship Type="http://schemas.openxmlformats.org/officeDocument/2006/relationships/notesSlide" Target="/ppt/notesSlides/notesSlide7.xml" Id="R3fa07d550fab48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a574e248f4ea1" /><Relationship Type="http://schemas.openxmlformats.org/officeDocument/2006/relationships/image" Target="/ppt/media/image3.png" Id="R31cf3e537d5f4cf7" /><Relationship Type="http://schemas.openxmlformats.org/officeDocument/2006/relationships/notesSlide" Target="/ppt/notesSlides/notesSlide8.xml" Id="R9492ae3ece1b4b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4fa52e88b4573" /><Relationship Type="http://schemas.openxmlformats.org/officeDocument/2006/relationships/image" Target="/ppt/media/image4.png" Id="Ra5158573814d49f8" /><Relationship Type="http://schemas.openxmlformats.org/officeDocument/2006/relationships/notesSlide" Target="/ppt/notesSlides/notesSlide9.xml" Id="Rc80963a9ae0a42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94248fbbe4e85" /><Relationship Type="http://schemas.openxmlformats.org/officeDocument/2006/relationships/image" Target="/ppt/media/image5.png" Id="R0ed8a35c00fb492d" /><Relationship Type="http://schemas.openxmlformats.org/officeDocument/2006/relationships/notesSlide" Target="/ppt/notesSlides/notesSlide10.xml" Id="Reb2982b233ef43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77ffef5bc4cbe" /><Relationship Type="http://schemas.openxmlformats.org/officeDocument/2006/relationships/chart" Target="/ppt/slides/charts/chart2.xml" Id="Rd80ea740d4454bba" /><Relationship Type="http://schemas.openxmlformats.org/officeDocument/2006/relationships/notesSlide" Target="/ppt/notesSlides/notesSlide11.xml" Id="Rcc2780d0f15447a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a5ccdac6f47b7" /><Relationship Type="http://schemas.openxmlformats.org/officeDocument/2006/relationships/chart" Target="/ppt/slides/charts/chart3.xml" Id="Rc0a608a146c54245" /><Relationship Type="http://schemas.openxmlformats.org/officeDocument/2006/relationships/notesSlide" Target="/ppt/notesSlides/notesSlide12.xml" Id="Ra8532348b12a44a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11a5170d445fc" /><Relationship Type="http://schemas.openxmlformats.org/officeDocument/2006/relationships/notesSlide" Target="/ppt/notesSlides/notesSlide13.xml" Id="R83703bd6bc3646f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7d05d4b2041a1" /><Relationship Type="http://schemas.openxmlformats.org/officeDocument/2006/relationships/notesSlide" Target="/ppt/notesSlides/notesSlide14.xml" Id="R9c9cd3caebd440d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a7d9cbf5145a4" /><Relationship Type="http://schemas.openxmlformats.org/officeDocument/2006/relationships/notesSlide" Target="/ppt/notesSlides/notesSlide15.xml" Id="R766f56d62ddc4b6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40777ff5c4893" /><Relationship Type="http://schemas.openxmlformats.org/officeDocument/2006/relationships/notesSlide" Target="/ppt/notesSlides/notesSlide16.xml" Id="Rc60c871ab491478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50850827b4955" /><Relationship Type="http://schemas.openxmlformats.org/officeDocument/2006/relationships/notesSlide" Target="/ppt/notesSlides/notesSlide17.xml" Id="R59a26228b81044a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03ea5f79b4caf" /><Relationship Type="http://schemas.openxmlformats.org/officeDocument/2006/relationships/notesSlide" Target="/ppt/notesSlides/notesSlide18.xml" Id="R52f1bffb9607444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Pressure</c:v>
          </c:tx>
          <c:spPr>
            <a:solidFill xmlns:a="http://schemas.openxmlformats.org/drawingml/2006/main">
              <a:srgbClr val="1769AA"/>
            </a:solidFill>
          </c:spPr>
          <c:cat>
            <c:strLit>
              <c:ptCount val="3"/>
              <c:pt idx="0">
                <c:v>A GeoPT</c:v>
              </c:pt>
              <c:pt idx="1">
                <c:v>B Scratch</c:v>
              </c:pt>
              <c:pt idx="2">
                <c:v>C GeoTransolver</c:v>
              </c:pt>
            </c:strLit>
          </c:cat>
          <c:val>
            <c:numLit>
              <c:formatCode>0.0</c:formatCode>
              <c:ptCount val="3"/>
              <c:pt idx="0">
                <c:v>82.1</c:v>
              </c:pt>
              <c:pt idx="1">
                <c:v>100</c:v>
              </c:pt>
              <c:pt idx="2">
                <c:v>84.4</c:v>
              </c:pt>
            </c:numLit>
          </c:val>
        </c:ser>
        <c:ser>
          <c:idx val="1"/>
          <c:order val="1"/>
          <c:tx>
            <c:v>WSS</c:v>
          </c:tx>
          <c:spPr>
            <a:solidFill xmlns:a="http://schemas.openxmlformats.org/drawingml/2006/main">
              <a:srgbClr val="D97706"/>
            </a:solidFill>
          </c:spPr>
          <c:cat>
            <c:strLit>
              <c:ptCount val="3"/>
              <c:pt idx="0">
                <c:v>A GeoPT</c:v>
              </c:pt>
              <c:pt idx="1">
                <c:v>B Scratch</c:v>
              </c:pt>
              <c:pt idx="2">
                <c:v>C GeoTransolver</c:v>
              </c:pt>
            </c:strLit>
          </c:cat>
          <c:val>
            <c:numLit>
              <c:formatCode>0.0</c:formatCode>
              <c:ptCount val="3"/>
              <c:pt idx="0">
                <c:v>96</c:v>
              </c:pt>
              <c:pt idx="1">
                <c:v>100</c:v>
              </c:pt>
              <c:pt idx="2">
                <c:v>95.9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CE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827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1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CE3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472"/>
                </a:solidFill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7F8FA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B6472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7F8FA"/>
    </a:solidFill>
    <a:ln xmlns:a="http://schemas.openxmlformats.org/drawingml/2006/main" w="0">
      <a:solidFill>
        <a:srgbClr val="F7F8FA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Train40</c:v>
          </c:tx>
          <c:spPr>
            <a:solidFill xmlns:a="http://schemas.openxmlformats.org/drawingml/2006/main">
              <a:srgbClr val="B8C0CC"/>
            </a:solidFill>
          </c:spPr>
          <c:cat>
            <c:strLit>
              <c:ptCount val="2"/>
              <c:pt idx="0">
                <c:v>GeoPT-
Transolver</c:v>
              </c:pt>
              <c:pt idx="1">
                <c:v>GeoTransolver</c:v>
              </c:pt>
            </c:strLit>
          </c:cat>
          <c:val>
            <c:numLit>
              <c:formatCode>0.000</c:formatCode>
              <c:ptCount val="2"/>
              <c:pt idx="0">
                <c:v>1.095</c:v>
              </c:pt>
              <c:pt idx="1">
                <c:v>1.216</c:v>
              </c:pt>
            </c:numLit>
          </c:val>
        </c:ser>
        <c:ser>
          <c:idx val="1"/>
          <c:order val="1"/>
          <c:tx>
            <c:v>Train80</c:v>
          </c:tx>
          <c:spPr>
            <a:solidFill xmlns:a="http://schemas.openxmlformats.org/drawingml/2006/main">
              <a:srgbClr val="1769AA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11845B"/>
              </a:solidFill>
            </c:spPr>
          </c:dPt>
          <c:cat>
            <c:strLit>
              <c:ptCount val="2"/>
              <c:pt idx="0">
                <c:v>GeoPT-
Transolver</c:v>
              </c:pt>
              <c:pt idx="1">
                <c:v>GeoTransolver</c:v>
              </c:pt>
            </c:strLit>
          </c:cat>
          <c:val>
            <c:numLit>
              <c:formatCode>0.000</c:formatCode>
              <c:ptCount val="2"/>
              <c:pt idx="0">
                <c:v>0.533</c:v>
              </c:pt>
              <c:pt idx="1">
                <c:v>0.603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CE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827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.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C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B6472"/>
                    </a:solidFill>
                  </a:rPr>
                  <a:t>Pressure 相対L2 [%]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B6472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472"/>
                </a:solidFill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solidFill>
            <a:srgbClr val="F7F8FA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B6472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7F8FA"/>
    </a:solidFill>
    <a:ln xmlns:a="http://schemas.openxmlformats.org/drawingml/2006/main" w="0">
      <a:solidFill>
        <a:srgbClr val="F7F8FA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p99.9</c:v>
          </c:tx>
          <c:spPr>
            <a:ln xmlns:a="http://schemas.openxmlformats.org/drawingml/2006/main" w="28575">
              <a:solidFill>
                <a:srgbClr val="C84B45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C84B45"/>
              </a:solidFill>
            </c:spPr>
          </c:marker>
          <c:cat>
            <c:strLit>
              <c:ptCount val="3"/>
              <c:pt idx="0">
                <c:v>30k</c:v>
              </c:pt>
              <c:pt idx="1">
                <c:v>60k</c:v>
              </c:pt>
              <c:pt idx="2">
                <c:v>100k</c:v>
              </c:pt>
            </c:strLit>
          </c:cat>
          <c:val>
            <c:numLit>
              <c:formatCode>General</c:formatCode>
              <c:ptCount val="3"/>
              <c:pt idx="0">
                <c:v>1472.1</c:v>
              </c:pt>
              <c:pt idx="1">
                <c:v>1205.6</c:v>
              </c:pt>
              <c:pt idx="2">
                <c:v>1140.9</c:v>
              </c:pt>
            </c:numLit>
          </c:val>
        </c:ser>
        <c:ser>
          <c:idx val="1"/>
          <c:order val="1"/>
          <c:tx>
            <c:v>p99</c:v>
          </c:tx>
          <c:spPr>
            <a:ln xmlns:a="http://schemas.openxmlformats.org/drawingml/2006/main" w="28575">
              <a:solidFill>
                <a:srgbClr val="1769AA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1769AA"/>
              </a:solidFill>
            </c:spPr>
          </c:marker>
          <c:cat>
            <c:strLit>
              <c:ptCount val="3"/>
              <c:pt idx="0">
                <c:v>30k</c:v>
              </c:pt>
              <c:pt idx="1">
                <c:v>60k</c:v>
              </c:pt>
              <c:pt idx="2">
                <c:v>100k</c:v>
              </c:pt>
            </c:strLit>
          </c:cat>
          <c:val>
            <c:numLit>
              <c:formatCode>General</c:formatCode>
              <c:ptCount val="3"/>
              <c:pt idx="0">
                <c:v>783.9</c:v>
              </c:pt>
              <c:pt idx="1">
                <c:v>599.3</c:v>
              </c:pt>
              <c:pt idx="2">
                <c:v>581.9</c:v>
              </c:pt>
            </c:numLit>
          </c:val>
        </c:ser>
        <c:ser>
          <c:idx val="2"/>
          <c:order val="2"/>
          <c:tx>
            <c:v>上位1%平均</c:v>
          </c:tx>
          <c:spPr>
            <a:ln xmlns:a="http://schemas.openxmlformats.org/drawingml/2006/main" w="28575">
              <a:solidFill>
                <a:srgbClr val="11845B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11845B"/>
              </a:solidFill>
            </c:spPr>
          </c:marker>
          <c:cat>
            <c:strLit>
              <c:ptCount val="3"/>
              <c:pt idx="0">
                <c:v>30k</c:v>
              </c:pt>
              <c:pt idx="1">
                <c:v>60k</c:v>
              </c:pt>
              <c:pt idx="2">
                <c:v>100k</c:v>
              </c:pt>
            </c:strLit>
          </c:cat>
          <c:val>
            <c:numLit>
              <c:formatCode>General</c:formatCode>
              <c:ptCount val="3"/>
              <c:pt idx="0">
                <c:v>1081.4</c:v>
              </c:pt>
              <c:pt idx="1">
                <c:v>861.4</c:v>
              </c:pt>
              <c:pt idx="2">
                <c:v>826.9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B6472"/>
                    </a:solidFill>
                  </a:rPr>
                  <a:t>学習時point-budget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B6472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CE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827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6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C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B6472"/>
                    </a:solidFill>
                  </a:rPr>
                  <a:t>Pressure絶対誤差 [Pa]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B6472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472"/>
                </a:solidFill>
              </a:defRPr>
            </a:pPr>
          </a:p>
        </c:txPr>
        <c:crossAx val="48650112"/>
        <c:crossBetween val="between"/>
        <c:majorUnit val="200"/>
      </c:valAx>
      <c:spPr>
        <a:noFill xmlns:a="http://schemas.openxmlformats.org/drawingml/2006/main"/>
        <a:ln xmlns:a="http://schemas.openxmlformats.org/drawingml/2006/main" w="0">
          <a:solidFill>
            <a:srgbClr val="F7F8FA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B6472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7F8FA"/>
    </a:solidFill>
    <a:ln xmlns:a="http://schemas.openxmlformats.org/drawingml/2006/main" w="0">
      <a:solidFill>
        <a:srgbClr val="F7F8FA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584BD-ACC6-4D87-B4E3-4101591F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C9214-D8EF-470A-9167-757541D8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PHYSICSNEMO STUDY / EXPERIMENT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E90BE-7A71-436C-99BC-D4E17D00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742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4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GeoPT × GeoTransolver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D9186-65B4-4C43-B57D-B09F0E8D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SHIFT-Wingによる簡易性能検証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01697E-6931-4C54-9A27-79D1EB0F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rPr>
              <a:t>事前学習の効果と、幾何認識アーキテクチャの効果を分けて読む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E2885-F069-4C8D-9E57-7CB47499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05150"/>
            <a:ext cx="1219200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2264763b4b48c5"/>
          <a:stretch xmlns:a="http://schemas.openxmlformats.org/drawingml/2006/main"/>
        </p:blipFill>
        <p:spPr>
          <a:xfrm xmlns:a="http://schemas.openxmlformats.org/drawingml/2006/main">
            <a:off x="937846" y="3286125"/>
            <a:ext cx="10316308" cy="3048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5E4221-393F-477D-8876-22202C91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8C95A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8C95A3"/>
                </a:solidFill>
                <a:latin typeface="Hiragino Sans"/>
                <a:ea typeface="Hiragino Sans"/>
                <a:cs typeface="Hiragino Sans"/>
              </a:rPr>
              <a:t>2026.08 / 有志勉強会向け</a:t>
            </a:r>
          </a:p>
        </p:txBody>
      </p:sp>
    </p:spTree>
    <p:extLst>
      <p:ext uri="{BB962C8B-B14F-4D97-AF65-F5344CB8AC3E}">
        <p14:creationId xmlns:p14="http://schemas.microsoft.com/office/powerpoint/2010/main" val="6151749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6EFE77-2635-4AC9-A085-640CA6D0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05266-7D0D-447F-9D5E-2F9C00C4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5033D-18F6-46C6-8286-ADCDBFFB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今回の検証は「事前学習」と「アーキテクチャ」を切り分ける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D6076-5F47-494D-A9DE-EBD5C56A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408DFF-1724-4624-89B7-77E2DEED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762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8C95A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8C95A3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61BE42-9D30-44A5-9241-5BF0BC32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69A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A2374-9A56-47E5-884D-77C7053D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3371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rPr>
              <a:t>−18%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0D2B7-2D0B-4251-8168-006CCC6B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3371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GeoPTのPressure誤差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4FD662-4195-4BE4-8EA4-D96658DA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3371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A vs B：0.00695 / 0.00847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D13C3-2A9C-4743-A20B-30BC2392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46685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184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10D7E2-1C93-4E6B-803E-FD3844C3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38300"/>
            <a:ext cx="3371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11845B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11845B"/>
                </a:solidFill>
                <a:latin typeface="Hiragino Sans"/>
                <a:ea typeface="Hiragino Sans"/>
                <a:cs typeface="Hiragino Sans"/>
              </a:rPr>
              <a:t>−16%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8A6552-AB0E-4715-99F6-E8F1C568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05050"/>
            <a:ext cx="3371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GeoTransolverのPressure誤差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2A316C-AD2B-405D-8F4E-C7CEEB59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86050"/>
            <a:ext cx="3371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C vs B：0.00715 / 0.00847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1873B1-E0C7-43B6-BDD7-8AB10589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6685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B3470F-A2D6-4DE2-AE7B-458B73F8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38300"/>
            <a:ext cx="3371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rPr>
              <a:t>≒同等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E4A527-79F8-412B-A00A-7C31AD44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05050"/>
            <a:ext cx="3371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WSS：AとC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33C9C8-2533-4959-A999-9DAC62B9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86050"/>
            <a:ext cx="3371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0.1072 vs 0.1071（Cが僅差）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011AD2-D1BB-4BC9-B7FA-0BCBC381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112776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A89D76-7C82-4B73-B8D9-CC7536BF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読み方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F55E06-6F30-41EF-9ABA-EE7A2F6F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6C48E4-51B4-4060-A137-287F230E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10458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rPr>
              <a:t>A vs B：</a:t>
            </a:r>
            <a:r>
              <a:rPr sz="150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同じTransolverで、GeoPT事前学習の寄与を見る。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CD6786-1251-4ED4-9759-7916515E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9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1184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93B866-5BD6-4A71-80C3-0CC1BF70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458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845B"/>
                </a:solidFill>
                <a:latin typeface="Hiragino Sans"/>
                <a:ea typeface="Hiragino Sans"/>
                <a:cs typeface="Hiragino Sans"/>
              </a:rPr>
              <a:t>C vs B：</a:t>
            </a:r>
            <a:r>
              <a:rPr sz="150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同じScratch学習で、GeoTransolverの構造改善を見る。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35E992-495C-4536-91BA-A7B1C632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solidFill>
              <a:srgbClr val="B5470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4C56D9-09EB-4ADC-90E7-AD1C81E1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0458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B54708"/>
                </a:solidFill>
                <a:latin typeface="Hiragino Sans"/>
                <a:ea typeface="Hiragino Sans"/>
                <a:cs typeface="Hiragino Sans"/>
              </a:rPr>
              <a:t>A vs C：</a:t>
            </a:r>
            <a:r>
              <a:rPr sz="150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実用候補同士の比較だが、変更点が複数あるため単独要因の因果比較ではない。</a:t>
            </a:r>
          </a:p>
        </p:txBody>
      </p:sp>
    </p:spTree>
    <p:extLst>
      <p:ext uri="{BB962C8B-B14F-4D97-AF65-F5344CB8AC3E}">
        <p14:creationId xmlns:p14="http://schemas.microsoft.com/office/powerpoint/2010/main" val="17894543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EFA00E-CCA8-4D01-A2E2-B19ABA3C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63D68D-5024-4126-A7AF-72E11B61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14047A-1A71-4579-B60B-53D88EE4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この実験で確かめた3つの問い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584D00-9524-448D-8AE8-ABBAC306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CD3DE-27BA-4943-800B-61E1356D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762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8C95A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8C95A3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FA3FD-D080-436F-A772-52C9360B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defRPr>
            </a:pPr>
            <a:r>
              <a:rPr sz="4050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44F06-49F4-4BF8-8BF7-37820F73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6002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rPr>
              <a:t>最終精度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26E06-AB41-4F7C-A0F8-D0FF98B1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924050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GeoPT事前学習は、同一TransolverのScratch学習を上回るか？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E9C101-C73A-4804-B571-0A3E9A54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690E64-8D58-4757-8826-C6BFF8D2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defRPr>
            </a:pPr>
            <a:r>
              <a:rPr sz="4050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7EA77-C376-4DC8-A710-A267E091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289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rPr>
              <a:t>外挿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B7AB71-3997-4167-A05D-27BC025C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52800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学習分布の端部に置いた形状でも、優位性は維持されるか？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C23BB7-C82C-4A3E-B9F5-195158C3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76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CEC960-4E70-4127-899C-50DF28DE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>
                <a:solidFill>
                  <a:srgbClr val="11845B"/>
                </a:solidFill>
                <a:latin typeface="Hiragino Sans"/>
                <a:ea typeface="Hiragino Sans"/>
                <a:cs typeface="Hiragino Sans"/>
              </a:defRPr>
            </a:pPr>
            <a:r>
              <a:rPr sz="4050" b="1">
                <a:solidFill>
                  <a:srgbClr val="11845B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623BD5-A587-4C9E-BFE9-E5AE3060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577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845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845B"/>
                </a:solidFill>
                <a:latin typeface="Hiragino Sans"/>
                <a:ea typeface="Hiragino Sans"/>
                <a:cs typeface="Hiragino Sans"/>
              </a:rPr>
              <a:t>実用比較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7681BD-CA06-4B81-92A5-A9284D40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81550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GeoPT-TransolverとScratch-GeoTransolverの差はどの程度か？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95BD46-4D91-4243-8B08-B19982C4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614968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12DBB9-5C88-4265-B692-0DDE6104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738FA-15A1-4615-929A-87C04580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F9D3E-D7B7-4F13-9768-D3081EAC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比較対象：変えたものを1つずつ見る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7CCC23-DE73-46E5-AF6D-EDD3954E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D3413D-1FCB-4DD7-A706-C814F4C7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762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8C95A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8C95A3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B1ECB-9AD9-4BE9-AF88-1C054E39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971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44895-8E8A-4CDC-97D8-CCB694B8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1B0633-CE3B-4AB5-A79B-6EDE00F1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3219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F90500-FFC2-4777-8108-7BC565C8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61925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Backbone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7961C8-2684-4ABB-80B1-89394476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504950"/>
            <a:ext cx="3257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BFF113-FD62-4173-ACE1-F03352C8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1925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初期化・学習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57FD04-EA40-4D70-8D9D-34F62434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04950"/>
            <a:ext cx="3829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BB397C-0973-47B0-8A66-75F680BB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19250"/>
            <a:ext cx="3600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この比較で測るもの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21AF58-CDC4-4ACF-B229-CAE0B232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9715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78155D-DA97-4B18-BB18-AD2F146E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38350"/>
            <a:ext cx="32194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C13FBB-5535-44AC-9976-B10B6B0F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38350"/>
            <a:ext cx="32575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22D7C5-F85C-4DB8-A0BA-00E65693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38350"/>
            <a:ext cx="38290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54B02F-4640-4B13-92EA-E3075106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971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rPr>
              <a:t>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E4F5A9-33FE-4B20-8CB6-FB1284CF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266950"/>
            <a:ext cx="2876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Transolver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4C005C-12C4-4D27-9502-4F4D2E00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266950"/>
            <a:ext cx="2914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rPr>
              <a:t>GeoPT事前学習 → Fine-tune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E22C25-5977-4303-9761-A0D03258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66950"/>
            <a:ext cx="3486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Bとの差：事前学習の寄与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D8FCCC-4571-4562-88A1-930C5759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9715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E9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C3BBE6-DCA0-4BF7-ACAB-266F8211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2194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04B8EB-B438-48CD-BC33-A6C8F8FB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38500"/>
            <a:ext cx="32575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96A31A-8943-4F91-9771-F554D7BF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38500"/>
            <a:ext cx="38290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69FD87-C378-4786-839F-CB4AB642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971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C84B45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C84B45"/>
                </a:solidFill>
                <a:latin typeface="Hiragino Sans"/>
                <a:ea typeface="Hiragino Sans"/>
                <a:cs typeface="Hiragino Sans"/>
              </a:rPr>
              <a:t>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0F3F8B-8D4D-4553-A7A5-BE1A7DFC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67100"/>
            <a:ext cx="2876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Transolver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B588AD-161E-4668-A1F9-C8F2D985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67100"/>
            <a:ext cx="2914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C84B45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C84B45"/>
                </a:solidFill>
                <a:latin typeface="Hiragino Sans"/>
                <a:ea typeface="Hiragino Sans"/>
                <a:cs typeface="Hiragino Sans"/>
              </a:rPr>
              <a:t>Scratch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4BAF5B-68F3-4449-A7B1-75E819C9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67100"/>
            <a:ext cx="3486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共通の基準モデル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1F7228-BEA3-4A49-B693-729A881E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9715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664D19-9092-42DE-856D-D09A8AFF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38650"/>
            <a:ext cx="32194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05F257-4EF9-4B01-9B5B-ACDF6834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38650"/>
            <a:ext cx="32575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07B4E0-6BE1-43F7-96A4-4ADC22FC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38650"/>
            <a:ext cx="38290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6A3371-91CC-4C52-B0A9-8F787047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91050"/>
            <a:ext cx="971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11845B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11845B"/>
                </a:solidFill>
                <a:latin typeface="Hiragino Sans"/>
                <a:ea typeface="Hiragino Sans"/>
                <a:cs typeface="Hiragino Sans"/>
              </a:rPr>
              <a:t>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9D60CB-676D-470F-BC05-0C998F70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67250"/>
            <a:ext cx="2876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GeoTransolver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C0AB31-E144-4D03-BE24-7554D9F8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667250"/>
            <a:ext cx="2914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845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845B"/>
                </a:solidFill>
                <a:latin typeface="Hiragino Sans"/>
                <a:ea typeface="Hiragino Sans"/>
                <a:cs typeface="Hiragino Sans"/>
              </a:rPr>
              <a:t>Scratch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D9B3C5-73DF-4D6E-AA44-F56BD741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67250"/>
            <a:ext cx="3486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Bとの差：構造改善の寄与</a:t>
            </a:r>
          </a:p>
        </p:txBody>
      </p:sp>
    </p:spTree>
    <p:extLst>
      <p:ext uri="{BB962C8B-B14F-4D97-AF65-F5344CB8AC3E}">
        <p14:creationId xmlns:p14="http://schemas.microsoft.com/office/powerpoint/2010/main" val="16421182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2FAEDA-E5CA-499A-8161-A9A8B076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7B021-8EB2-4675-8B29-A34F54EE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B242E-911D-4B68-8058-0AE76F2A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SHIFT-Wing 100ケース：外挿を意図した10件で評価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A5037-BBDF-4970-8BF3-B9FC65D2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779F7-F1AC-4FAA-98B4-8BDC72AD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762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8C95A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8C95A3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C6E59A-40D3-468C-81D0-6334AB9C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7143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23DC2-CC14-454B-ABE3-0C6692F5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00200"/>
            <a:ext cx="895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09B5E-53F5-414C-A9CC-AA31499B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00200"/>
            <a:ext cx="323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1184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ABAF9-625F-4F6C-BDE8-5E42D3A5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680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Train 80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DE1B6E-C16F-472A-A9D6-74EA8048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33550"/>
            <a:ext cx="895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Val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4BAB46-BECA-4BA4-9360-F8F4411B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09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Test 10  /  パラメータ分布の端部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6E5A5B-74C9-4D5C-A86C-E07311E2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入力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20F252-D0B6-43DD-82A2-4FCA99D9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289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翼形状・運転条件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F64D99-D735-452F-B9A2-220D502C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2895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同一データ／同一評価条件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D6D7F0-08C5-4732-BF44-3F9A69D5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7EB92D-2864-4D79-9641-6C06E778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95700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出力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3BAE8A-B8C8-460E-9A02-C29D79C7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957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Pressure / WSS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AF7779-4CB6-46D9-BD5E-20BB3168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9570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物理量へ換算して誤差評価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61FB52-20EF-4FED-8F90-5F9B1956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91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64F94D-2D7E-49B3-9E4B-73385238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外挿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CD2921-7ABB-46FE-B3D6-CAD1072E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624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PCA1・最近傍距離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D49C17-29FA-4249-ADD2-EEFAFF5D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6245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学習集合からの距離と誤差を相関分析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58047-035A-4317-B103-EC8F9D41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1FD421-F574-450E-88A2-A6CB0602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規模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4853AD-D653-49DB-BA81-4020BB4F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292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約1,623万点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1BD67A-0032-40B4-AC86-3AEC8609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2920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Test 10件の全格子点でPressure分布を評価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C4E4F3-B510-4FC7-93BF-70C0BE44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781211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BAA7F9-52B4-4DBC-AFBC-751529BC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75993-8EA9-40AA-9C7B-05F67AD0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BAAC7-50BB-4C6F-A7BF-EDF86658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主結果：PressureはA、WSSはAとCが実質同等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1F677-64CB-46D8-A797-E7F05565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F19A0-D573-4615-8D68-D6092CEE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762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8C95A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8C95A3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314D7-FABE-4F1F-83C3-1D9EB8FF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誤差指数（Scratch-Transolver = 100 / 低いほど良い）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342900" y="1752600"/>
          <a:ext xmlns:a="http://schemas.openxmlformats.org/drawingml/2006/main" cx="7334250" cy="3752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db09120ff7648ec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28CF6E-B612-49F8-B623-7A8D31F2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52600"/>
            <a:ext cx="3429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0">
            <a:solidFill>
              <a:srgbClr val="EAF3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9D0D6-0903-41FE-9AF1-9D38EFD7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rPr>
              <a:t>Pressure 相対L2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4671DA-3DE1-4AAD-A7EA-7FBD7924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669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A  0.00695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1E2D56-AF0A-40DE-AA45-A412345C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B  0.00847  /  C  0.00715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5F6636-1E04-40C3-8BA8-2451A548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3429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D"/>
          </a:solidFill>
          <a:ln xmlns:a="http://schemas.openxmlformats.org/drawingml/2006/main" w="0">
            <a:solidFill>
              <a:srgbClr val="FFF1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110BB2-EFBA-49DB-BF1C-2399A6CB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2425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rPr>
              <a:t>WSS 相対L2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064154-98B3-479C-A78C-D5EF8918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481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A  0.1072  ≒  C  0.1071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771975-C16D-418F-93FF-542DDC64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05300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B  0.1117  /  Cが0.0001低い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229AFA-7CF0-455E-A656-493C884C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1490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8FB603-81F3-4142-AC7A-CCD4B601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86350"/>
            <a:ext cx="2971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rPr>
              <a:t>Pressure：AはBより18%低誤差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rPr>
              <a:t>AはCより2.8%低い</a:t>
            </a:r>
          </a:p>
        </p:txBody>
      </p:sp>
    </p:spTree>
    <p:extLst>
      <p:ext uri="{BB962C8B-B14F-4D97-AF65-F5344CB8AC3E}">
        <p14:creationId xmlns:p14="http://schemas.microsoft.com/office/powerpoint/2010/main" val="16306658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A683D9-54EE-4D82-A87D-9CE52F1B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933591-62A2-4552-994C-8DC1AAB0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10149-057C-404C-BBDA-541B4CD6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Pressure誤差分布：AはBより全パーセンタイルで小さい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E0D980-E911-4564-86D6-74D5107B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89DF7-3DB9-4691-B26A-8DFA74BD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762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8C95A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8C95A3"/>
                </a:solidFill>
                <a:latin typeface="Hiragino Sans"/>
                <a:ea typeface="Hiragino Sans"/>
                <a:cs typeface="Hiragino Sans"/>
              </a:rPr>
              <a:t>07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f7092e37fe4870"/>
          <a:stretch xmlns:a="http://schemas.openxmlformats.org/drawingml/2006/main"/>
        </p:blipFill>
        <p:spPr>
          <a:xfrm xmlns:a="http://schemas.openxmlformats.org/drawingml/2006/main">
            <a:off x="816429" y="1352550"/>
            <a:ext cx="10559143" cy="3695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E15C0-FB38-4A35-B61D-A980777D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33813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0">
            <a:solidFill>
              <a:srgbClr val="EAF3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7EF4E8-C65D-4158-9271-711D2EDD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257800"/>
            <a:ext cx="33813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D6BF62-BD93-4E86-AD2B-B81C9C3F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257800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7B1F68-EAFD-4503-AB3A-4B1FBE27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300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rPr>
              <a:t>p50  0.19%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BC7A89-9DE1-4B05-9342-BFC49525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29300"/>
            <a:ext cx="3000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A：中央値 45.5 Pa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7CA20E-FFC3-4A55-B8F7-C8AEBB89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429250"/>
            <a:ext cx="300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p99  3.09%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CA8F24-DA0B-4938-B722-6E1B7291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829300"/>
            <a:ext cx="3000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A：616.5 Pa / B：651.7 Pa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38F961-0D24-4CB8-9925-692CB5B8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4292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845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845B"/>
                </a:solidFill>
                <a:latin typeface="Hiragino Sans"/>
                <a:ea typeface="Hiragino Sans"/>
                <a:cs typeface="Hiragino Sans"/>
              </a:rPr>
              <a:t>p99.9ではCがAを僅かに下回る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3AEB20-7DEA-4294-B41A-DB918702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8293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11.50% vs 11.91%｜外れ値域の順位は一様ではない</a:t>
            </a:r>
          </a:p>
        </p:txBody>
      </p:sp>
    </p:spTree>
    <p:extLst>
      <p:ext uri="{BB962C8B-B14F-4D97-AF65-F5344CB8AC3E}">
        <p14:creationId xmlns:p14="http://schemas.microsoft.com/office/powerpoint/2010/main" val="14317240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4FF198-C02D-455B-A8DC-F87B46B6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8CD709-9328-4124-A0D0-E85C7DD7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4DD56-07F4-490C-8AAE-9A18A176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代表ケース：Pressure場は3モデルとも目視上ほぼ一致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D619F-79EA-453C-B1B8-1F05B9D6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3D8F7C-222F-4919-9C90-0AA5D647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762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8C95A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8C95A3"/>
                </a:solidFill>
                <a:latin typeface="Hiragino Sans"/>
                <a:ea typeface="Hiragino Sans"/>
                <a:cs typeface="Hiragino Sans"/>
              </a:rPr>
              <a:t>08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cf3e537d5f4cf7"/>
          <a:stretch xmlns:a="http://schemas.openxmlformats.org/drawingml/2006/main"/>
        </p:blipFill>
        <p:spPr>
          <a:xfrm xmlns:a="http://schemas.openxmlformats.org/drawingml/2006/main">
            <a:off x="342900" y="1424420"/>
            <a:ext cx="11506200" cy="339955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F6F255-D278-4666-BFC6-474D91C7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112776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FCEDA-35C7-479F-AC59-8118F798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sample_000069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9D3905-AAA5-4C1C-8D0C-A5F19937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2959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rPr>
              <a:t>90%の格子点で誤差1%以下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800FFA-42C8-4F1E-B965-ABB43B6F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149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差は前縁・後縁付近に現れるため、全体像だけでなく誤差場を見る必要がある。</a:t>
            </a:r>
          </a:p>
        </p:txBody>
      </p:sp>
    </p:spTree>
    <p:extLst>
      <p:ext uri="{BB962C8B-B14F-4D97-AF65-F5344CB8AC3E}">
        <p14:creationId xmlns:p14="http://schemas.microsoft.com/office/powerpoint/2010/main" val="17473304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99B842-E740-4ABE-8AD1-949690B2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0D693-7120-4B0D-A59A-5B3D3F8D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98D9C-DAE1-4404-8297-EEBBE125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差が出るのは局所：高誤差域の場所と広がりを評価する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09B837-8648-4C3A-B04A-03174299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4D072-E962-4A66-8480-61CCE5EC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762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8C95A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8C95A3"/>
                </a:solidFill>
                <a:latin typeface="Hiragino Sans"/>
                <a:ea typeface="Hiragino Sans"/>
                <a:cs typeface="Hiragino Sans"/>
              </a:rPr>
              <a:t>09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158573814d49f8"/>
          <a:stretch xmlns:a="http://schemas.openxmlformats.org/drawingml/2006/main"/>
        </p:blipFill>
        <p:spPr>
          <a:xfrm xmlns:a="http://schemas.openxmlformats.org/drawingml/2006/main">
            <a:off x="1084385" y="1428750"/>
            <a:ext cx="10023231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43E744-F58B-458F-BFC9-8055D16F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69A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05FC0-43D5-46E8-9FC0-C3EC0FD3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17DB29-641D-43D1-BF1A-A7BC5060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1020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GeoPT-Transolver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92FF06-3C43-4724-8355-953B5FFB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53100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高誤差域をBより抑制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6BDA89-A3B6-4D09-BF67-4E30CF13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1970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84B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4F9EA-92C8-4265-A9D1-4BCCF0D1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102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C84B45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C84B45"/>
                </a:solidFill>
                <a:latin typeface="Hiragino Sans"/>
                <a:ea typeface="Hiragino Sans"/>
                <a:cs typeface="Hiragino Sans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163A0B-4C5B-4C30-B6C0-037AD9D3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41020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Scratch-Transolver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4059EF-6608-4AA8-BC41-5A4114D2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753100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基準。局所ピークが相対的に大きい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BC80D5-40B6-48F0-AC30-F5C78E7F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1970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184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B889CD-9509-4BF8-ACC1-F6B0211D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102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845B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1845B"/>
                </a:solidFill>
                <a:latin typeface="Hiragino Sans"/>
                <a:ea typeface="Hiragino Sans"/>
                <a:cs typeface="Hiragino Sans"/>
              </a:rPr>
              <a:t>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621590-5987-4B90-A403-805615BF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41020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Scratch-GeoTransolver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97E6BF-F210-4C27-8746-97B8A84A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753100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全体精度はAに接近</a:t>
            </a:r>
          </a:p>
        </p:txBody>
      </p:sp>
    </p:spTree>
    <p:extLst>
      <p:ext uri="{BB962C8B-B14F-4D97-AF65-F5344CB8AC3E}">
        <p14:creationId xmlns:p14="http://schemas.microsoft.com/office/powerpoint/2010/main" val="11275299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A5B39E-8778-4165-B712-2BA1E38A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08F36-8842-4BE8-AD20-2FC5826B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GENERALIZATION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6A1C4-0BDF-4D0B-A95D-CAF3119A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外挿：学習集合から遠いほどGeoPTの優位が増える兆候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89A99-99AB-44A8-8814-1C039295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34A1E-305A-4B0D-B8C1-9730F814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762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8C95A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8C95A3"/>
                </a:solidFill>
                <a:latin typeface="Hiragino Sans"/>
                <a:ea typeface="Hiragino Sans"/>
                <a:cs typeface="Hiragino Sans"/>
              </a:rPr>
              <a:t>10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d8a35c00fb492d"/>
          <a:stretch xmlns:a="http://schemas.openxmlformats.org/drawingml/2006/main"/>
        </p:blipFill>
        <p:spPr>
          <a:xfrm xmlns:a="http://schemas.openxmlformats.org/drawingml/2006/main">
            <a:off x="571500" y="1352550"/>
            <a:ext cx="11049000" cy="3314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AF3B55-3D72-4F64-9DE2-6DB1F2D6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72050"/>
            <a:ext cx="342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C7AA2-AC6A-4211-BDCB-313393A4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最近傍距離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034EAE-37A2-4E91-AFA5-0BE09FDF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rPr>
              <a:t>r = 0.457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3E1C9B-A5B7-406A-8E5D-B7ACAC59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B−A差との相関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EF2DC4-C938-4925-AB1C-DD08F8E1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972050"/>
            <a:ext cx="342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05BFB4-1923-4D84-96AF-D0E8748A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1435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5近傍平均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F2646C-9338-463A-8473-9A266820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4102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rPr>
              <a:t>r = 0.435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0C7E49-5E1C-45B8-B5DF-9D554D09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7912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B−A差との相関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AA4FCA-8AE0-46FD-88B7-CD7D5E88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72050"/>
            <a:ext cx="342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654ACC-55A7-4DBD-98A0-4AB62F1F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435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PCA1外挿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29A774-39A2-49DF-9168-DF501293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4102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r = −0.091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803EFA-BD5E-4530-BCF2-496A66F7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7912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単軸では明瞭でない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AA0CE6-452F-46A7-8851-81331D36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11277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B5470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B54708"/>
                </a:solidFill>
                <a:latin typeface="Hiragino Sans"/>
                <a:ea typeface="Hiragino Sans"/>
                <a:cs typeface="Hiragino Sans"/>
              </a:rPr>
              <a:t>n=10の探索的分析。傾向の示唆であり、統計的な結論ではない。</a:t>
            </a:r>
          </a:p>
        </p:txBody>
      </p:sp>
    </p:spTree>
    <p:extLst>
      <p:ext uri="{BB962C8B-B14F-4D97-AF65-F5344CB8AC3E}">
        <p14:creationId xmlns:p14="http://schemas.microsoft.com/office/powerpoint/2010/main" val="7499878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1EFD71-7868-4EF7-9F25-FD996C8A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5713C-9B1B-47A2-B792-ED334FAB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ADDITIONAL TESTS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96BEB-85F0-49DF-83B8-6866B342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学習データを40→80件にすると、両モデルの誤差は約半減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6E2EB-54A3-4B96-9320-925EEBB3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BE63B-5454-4356-ACC6-EE48A6C7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762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8C95A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8C95A3"/>
                </a:solidFill>
                <a:latin typeface="Hiragino Sans"/>
                <a:ea typeface="Hiragino Sans"/>
                <a:cs typeface="Hiragino Sans"/>
              </a:rPr>
              <a:t>11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00050" y="1524000"/>
          <a:ext xmlns:a="http://schemas.openxmlformats.org/drawingml/2006/main" cx="6953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80ea740d4454bb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90EA4-6C3D-4E7F-9CF4-C6360A91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57350"/>
            <a:ext cx="3638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0">
            <a:solidFill>
              <a:srgbClr val="EAF3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43E7D8-FDCB-44DA-A21D-3EC1E858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4785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rPr>
              <a:t>GeoPT-Transolver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F72029-9DB1-4A8B-AA5B-2EECF4F6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33600"/>
            <a:ext cx="318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rPr>
              <a:t>L2  −51%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597DC9-2593-4079-B55D-721E50BB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52750"/>
            <a:ext cx="3638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F"/>
          </a:solidFill>
          <a:ln xmlns:a="http://schemas.openxmlformats.org/drawingml/2006/main" w="0">
            <a:solidFill>
              <a:srgbClr val="E7F5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7AA9AE-259C-4032-8ECD-B6FAB0D6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4325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1845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1845B"/>
                </a:solidFill>
                <a:latin typeface="Hiragino Sans"/>
                <a:ea typeface="Hiragino Sans"/>
                <a:cs typeface="Hiragino Sans"/>
              </a:rPr>
              <a:t>GeoTransolver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A486A4-70D9-4F8B-98C3-5B7946ED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29000"/>
            <a:ext cx="318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845B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845B"/>
                </a:solidFill>
                <a:latin typeface="Hiragino Sans"/>
                <a:ea typeface="Hiragino Sans"/>
                <a:cs typeface="Hiragino Sans"/>
              </a:rPr>
              <a:t>L2  −50%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845B48-7AAD-4E12-8B17-A143A4E6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48150"/>
            <a:ext cx="36385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B98399-A02C-452E-AF2C-AC4D0753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38650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高誤差域も改善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76C6F2-F580-4159-A1CF-8EC21CB0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00600"/>
            <a:ext cx="3181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p99：A −57% / C −53%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上位1%平均：A −50% / C −51%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0302A2-67C7-429C-ABCD-E4A965D1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0991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Val/Testは同一。Test外挿10件をFull-mesh評価。</a:t>
            </a:r>
          </a:p>
        </p:txBody>
      </p:sp>
    </p:spTree>
    <p:extLst>
      <p:ext uri="{BB962C8B-B14F-4D97-AF65-F5344CB8AC3E}">
        <p14:creationId xmlns:p14="http://schemas.microsoft.com/office/powerpoint/2010/main" val="2072132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4FB874-FF59-43A5-9861-45C0ACD7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4B2EA0-62CF-4D9A-A661-0D421478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ADDITIONAL TESTS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B95A9-2069-4984-8835-A7FD768D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point-budgetを増やすと、高誤差域は縮小する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57AD98-E6A9-4D32-A089-F6AB03F2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377FE-F6C3-4A8F-B864-CFA01DC2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762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8C95A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8C95A3"/>
                </a:solidFill>
                <a:latin typeface="Hiragino Sans"/>
                <a:ea typeface="Hiragino Sans"/>
                <a:cs typeface="Hiragino Sans"/>
              </a:rPr>
              <a:t>12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361950" y="1504950"/>
          <a:ext xmlns:a="http://schemas.openxmlformats.org/drawingml/2006/main" cx="7810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a608a146c5424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64945E-AE02-46AE-A940-02200226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954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4B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4BB33-AFE6-44C8-98B8-9770E4B9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288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p99.9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E6CB32-30E1-49E3-9E72-B90A1467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77165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175" b="1">
                <a:solidFill>
                  <a:srgbClr val="C84B45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C84B45"/>
                </a:solidFill>
                <a:latin typeface="Hiragino Sans"/>
                <a:ea typeface="Hiragino Sans"/>
                <a:cs typeface="Hiragino Sans"/>
              </a:rPr>
              <a:t>−22.5%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722728-5CFB-429A-BC53-1B8E7DDC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9A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464EC3-2D09-4C06-A93D-548A906A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051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p99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468381-567B-42BD-9E59-53482256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4795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175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rPr>
              <a:t>−25.8%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BCB750-D255-41FC-B453-936FE0EF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480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84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B3BF4F-41CF-44DD-BF32-73FE3984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81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上位1%平均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6F0FA-BAC8-4A91-A428-0746B92F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2425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175" b="1">
                <a:solidFill>
                  <a:srgbClr val="11845B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1845B"/>
                </a:solidFill>
                <a:latin typeface="Hiragino Sans"/>
                <a:ea typeface="Hiragino Sans"/>
                <a:cs typeface="Hiragino Sans"/>
              </a:rPr>
              <a:t>−23.5%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2B8FA5-138B-4BCF-8582-5F2D3F0C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D"/>
          </a:solidFill>
          <a:ln xmlns:a="http://schemas.openxmlformats.org/drawingml/2006/main" w="0">
            <a:solidFill>
              <a:srgbClr val="FFF1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18F6F8-1BF8-40F2-9D8F-45D10EEF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67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B54708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B54708"/>
                </a:solidFill>
                <a:latin typeface="Hiragino Sans"/>
                <a:ea typeface="Hiragino Sans"/>
                <a:cs typeface="Hiragino Sans"/>
              </a:rPr>
              <a:t>最大誤差は単調減少しない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9026AD-D505-474B-B5D7-385C72DD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673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30k→100kで +6.4%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ピーク消去ではなく影響範囲の局所化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D20E6F-CBFB-4474-AE32-537FDB1E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0991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対象：Scratch-GeoTransolver / Train80 / Full-mesh</a:t>
            </a:r>
          </a:p>
        </p:txBody>
      </p:sp>
    </p:spTree>
    <p:extLst>
      <p:ext uri="{BB962C8B-B14F-4D97-AF65-F5344CB8AC3E}">
        <p14:creationId xmlns:p14="http://schemas.microsoft.com/office/powerpoint/2010/main" val="4600326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C7BE9A0-7F74-4B3B-A4AF-244DBC68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C5F65-F357-411F-8569-39BA6F92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ADDITIONAL TESTS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AFE17E-01D0-4AEB-B99C-F95AD6A6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条件を変えてもA優位は維持。重み付きLossは設計依存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8963F-E957-4F42-A4DD-B5429A12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B0D18-0D92-4910-9AC4-069E107D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762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8C95A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8C95A3"/>
                </a:solidFill>
                <a:latin typeface="Hiragino Sans"/>
                <a:ea typeface="Hiragino Sans"/>
                <a:cs typeface="Hiragino San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290D2-552B-4C4E-97D8-6A1BDF33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条件変更後のPressure相対L2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4C459-E246-42B2-B460-76CC36D1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2590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4B39D-2EA5-418D-A34B-81EAED74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0B6D23-3C62-4F8E-9FE5-71A32D3F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478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7119A-4545-49DC-BF15-F8618FC5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621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00B1E1-EEC6-4B94-945B-1AF13A31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478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DF9630-BFC4-44AE-8E53-5F3C4140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621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333693-300A-4338-A03A-A5E1975D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478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DDE740-8EF5-401A-8C26-187B4A38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A優位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4F6A92-E4DE-4CD1-9805-82874099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2590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C26F27-E50D-4DB6-85F0-A1F0C9C7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47925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Train80 / 30k評価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5EF523-F8E0-4248-8A1D-CA37E13E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05050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B673A3-8F51-42B0-87CB-FEA1B8E2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479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0.00695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2E7D1D-5B0A-4680-BAE4-7AF278DF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0505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815C72-3813-4D4A-8ADB-D1AEA1F0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479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0.00715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4B3566-CA58-44AE-BD9F-75591905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0505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56C3F3-3331-4ADF-A92D-919C11AD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479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rPr>
              <a:t>A −2.8%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D0A588-D65E-46E2-B1C5-F40C5149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2590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75E8FA-8FC5-4900-97B8-55F3C6FC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57525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Train80 / 60k学習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76B6D3-271E-4CFC-A6F3-B712EBF0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14650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07587E-F492-44AE-AE7E-120541DF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575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0.00533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C39C87-B500-4E16-8570-1D388C72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1465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87139C-5169-4368-876B-25E9AD21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575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0.00603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DB741C-CF7E-4698-85BD-F52D6DB5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1465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E08ED4-1296-4C37-AB29-966C4E52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575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rPr>
              <a:t>A −11.7%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D7A65E-9421-4460-894D-ED041233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2590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659B7A-FEE3-41F1-AC6C-1F68CB2B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67125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Train40 / 60k学習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2C8C48-A1A2-4D5C-8E75-2EB2C025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24250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B068D5-E7FE-48F2-B23D-B8BED679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671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0.01095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A88A1D-42FA-48EF-92DE-482FCB1E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2425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B47E8B-148F-4772-A508-C2B217C6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671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0.01216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213B35-4827-4166-B191-B3BB2C74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81D3A6-490E-4027-9C9A-F25B51C8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671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rPr>
              <a:t>A −10.0%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5361D2-FBD5-4945-BE2C-8CFC1BC4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85900"/>
            <a:ext cx="0" cy="430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9BCE08-D102-45FB-B75E-2C32700D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2875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ホットスポット重み付きLoss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3570F5-66FB-4CB1-9531-3935BDF6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85950"/>
            <a:ext cx="3276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0">
            <a:solidFill>
              <a:srgbClr val="EAF3F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4481D1-DB51-4B83-8A66-77FAF3B3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76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rPr>
              <a:t>A：固定weight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A4325E-EBB8-4CC6-BD14-73C60B35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00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既存上位1%領域 −21%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F86E394-1993-472D-BDDF-D119B68A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43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ただし全体L2・RMSEは悪化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21F313-AECA-4206-BA39-18C80C59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19450"/>
            <a:ext cx="3276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F"/>
          </a:solidFill>
          <a:ln xmlns:a="http://schemas.openxmlformats.org/drawingml/2006/main" w="0">
            <a:solidFill>
              <a:srgbClr val="E7F5E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423FFB4-4A76-415B-8057-6EF94F5E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09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1845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1845B"/>
                </a:solidFill>
                <a:latin typeface="Hiragino Sans"/>
                <a:ea typeface="Hiragino Sans"/>
                <a:cs typeface="Hiragino Sans"/>
              </a:rPr>
              <a:t>C：動的weight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8500E9D-B256-4DCC-9D6E-696A1263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33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全4指標で改善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E778B92-FE02-4828-9185-2BECA1F5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7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L2 / RMSE / 上位1% / 既存領域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8784400-27F5-4CE2-934C-AA466A80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52950"/>
            <a:ext cx="32766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D"/>
          </a:solidFill>
          <a:ln xmlns:a="http://schemas.openxmlformats.org/drawingml/2006/main" w="0">
            <a:solidFill>
              <a:srgbClr val="FFF1D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3EAE5CF-ADEA-4D49-9434-CDCA2C02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43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B5470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B54708"/>
                </a:solidFill>
                <a:latin typeface="Hiragino Sans"/>
                <a:ea typeface="Hiragino Sans"/>
                <a:cs typeface="Hiragino Sans"/>
              </a:rPr>
              <a:t>共通課題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485E47E-AD17-45A9-924F-0DA3DDD4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673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最大誤差は安定して下がらない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重み・割合・スケジュール要調整</a:t>
            </a:r>
          </a:p>
        </p:txBody>
      </p:sp>
    </p:spTree>
    <p:extLst>
      <p:ext uri="{BB962C8B-B14F-4D97-AF65-F5344CB8AC3E}">
        <p14:creationId xmlns:p14="http://schemas.microsoft.com/office/powerpoint/2010/main" val="14221541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8AA600-61C7-4884-BD9C-CEF3F2AA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solidFill>
              <a:srgbClr val="B5470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FD6EC-CDD9-4548-B700-A669197C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INTERPRETATION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53678-86C2-4C05-876D-CCF2EB2C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この簡易検証から言えること／まだ言えないこと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2C9B8-167D-4484-9AC6-846C759A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48BD2-9E4B-4CCD-BC0E-3A64C1D3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762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8C95A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8C95A3"/>
                </a:solidFill>
                <a:latin typeface="Hiragino Sans"/>
                <a:ea typeface="Hiragino Sans"/>
                <a:cs typeface="Hiragino San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F4D3C-0AEA-4536-A8C0-EFD57E1B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53911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168D99-0E05-4F25-B3EC-82513453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04950"/>
            <a:ext cx="53911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3F401B-16BA-45EB-B1B5-3A729668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845B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11845B"/>
                </a:solidFill>
                <a:latin typeface="Hiragino Sans"/>
                <a:ea typeface="Hiragino Sans"/>
                <a:cs typeface="Hiragino Sans"/>
              </a:rPr>
              <a:t>言えること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D875B4-127F-4F3B-AC6C-6DC2B064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69F205-8E83-4298-BB86-A637BD73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4552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2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rPr>
              <a:t>GeoPT：</a:t>
            </a:r>
            <a:r>
              <a:rPr sz="150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同一TransolverでScratchよりPressure・WSSを改善。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EE9596-5789-4238-9617-0490CA62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1184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4425A-B4AA-436E-92E1-E2BE51FD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4552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845B"/>
                </a:solidFill>
                <a:latin typeface="Hiragino Sans"/>
                <a:ea typeface="Hiragino Sans"/>
                <a:cs typeface="Hiragino Sans"/>
              </a:rPr>
              <a:t>GeoTransolver：</a:t>
            </a:r>
            <a:r>
              <a:rPr sz="150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事前学習なしでもScratch-Transolverより高精度。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74D28-85D6-4D15-9E93-BAE860FA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846F6B-280B-432B-B11B-31495BB6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4552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5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rPr>
              <a:t>追加実験：</a:t>
            </a:r>
            <a:r>
              <a:rPr sz="150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データ数・point-budget変更後もA優位の順位は維持。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C4331F-63BF-4B43-B8FF-5D20A672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8B655A-5BEC-491D-8CE7-01A9F660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4552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6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rPr>
              <a:t>外挿：</a:t>
            </a:r>
            <a:r>
              <a:rPr sz="150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多次元距離が大きいケースほどAの優位が増える兆候。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506911-6399-4775-B5D6-2D0A8FB7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526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B54708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B54708"/>
                </a:solidFill>
                <a:latin typeface="Hiragino Sans"/>
                <a:ea typeface="Hiragino Sans"/>
                <a:cs typeface="Hiragino Sans"/>
              </a:rPr>
              <a:t>まだ言えないこと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4316D2-6925-4120-823E-409F0C43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241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B54708"/>
                </a:solidFill>
                <a:latin typeface="Hiragino Sans"/>
                <a:ea typeface="Hiragino Sans"/>
                <a:cs typeface="Hiragino Sans"/>
              </a:rPr>
              <a:t>統計的有意性：</a:t>
            </a:r>
            <a:r>
              <a:rPr sz="135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Test 10件・単一分割では未確定。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012BE8-14FD-45A1-B20D-310B77B4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99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B54708"/>
                </a:solidFill>
                <a:latin typeface="Hiragino Sans"/>
                <a:ea typeface="Hiragino Sans"/>
                <a:cs typeface="Hiragino Sans"/>
              </a:rPr>
              <a:t>一般化範囲：</a:t>
            </a:r>
            <a:r>
              <a:rPr sz="135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SHIFT-Wing外の形状・物理へは未検証。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CD26BF-FA90-48E6-9120-BCB5BB9B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957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B54708"/>
                </a:solidFill>
                <a:latin typeface="Hiragino Sans"/>
                <a:ea typeface="Hiragino Sans"/>
                <a:cs typeface="Hiragino Sans"/>
              </a:rPr>
              <a:t>A vs Cの因果：</a:t>
            </a:r>
            <a:r>
              <a:rPr sz="135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初期化と構造を同時に変えている。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E952FB-F77A-46FC-9260-7EA5E50E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815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B54708"/>
                </a:solidFill>
                <a:latin typeface="Hiragino Sans"/>
                <a:ea typeface="Hiragino Sans"/>
                <a:cs typeface="Hiragino Sans"/>
              </a:rPr>
              <a:t>最大誤差：</a:t>
            </a:r>
            <a:r>
              <a:rPr sz="135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局所ピークの安定低減は未達。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8FCCE8-1381-45B5-A4AC-C7D9C8E7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673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B54708"/>
                </a:solidFill>
                <a:latin typeface="Hiragino Sans"/>
                <a:ea typeface="Hiragino Sans"/>
                <a:cs typeface="Hiragino Sans"/>
              </a:rPr>
              <a:t>WSSの順位：</a:t>
            </a:r>
            <a:r>
              <a:rPr sz="135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AとCはほぼ同値。Aが明確に最良とは言えない。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738759-15FD-411B-AB45-0BA09447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127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B54708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B54708"/>
                </a:solidFill>
                <a:latin typeface="Hiragino Sans"/>
                <a:ea typeface="Hiragino Sans"/>
                <a:cs typeface="Hiragino Sans"/>
              </a:rPr>
              <a:t>次に必要なのは、複数seed・複数splitと「GeoPT + GeoTransolver」の4ケース比較。</a:t>
            </a:r>
          </a:p>
        </p:txBody>
      </p:sp>
    </p:spTree>
    <p:extLst>
      <p:ext uri="{BB962C8B-B14F-4D97-AF65-F5344CB8AC3E}">
        <p14:creationId xmlns:p14="http://schemas.microsoft.com/office/powerpoint/2010/main" val="9882321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893E13-432F-4111-8B6C-AF5499EB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1184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3ED81-3EA9-4F81-BE03-DB533CF1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MERITS / DEMERITS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4B119-8140-4E0B-806A-C4DCAE34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GeoTransolverとGeoPT：どこを変えるか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698377-9F23-4E38-A039-3B9B3919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46C584-4290-47C5-8A1F-C4AEAF01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762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8C95A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8C95A3"/>
                </a:solidFill>
                <a:latin typeface="Hiragino Sans"/>
                <a:ea typeface="Hiragino Sans"/>
                <a:cs typeface="Hiragino Sans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865299-3CC9-4E80-95F3-6702CCCF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070FD-4F83-497F-8F25-F8C7213C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14475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観点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4A3EE-4D8B-4272-ABF5-7FB19AF1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390650"/>
            <a:ext cx="45434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1184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CFF3D-E3FF-4878-B5CD-49ADC579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14475"/>
            <a:ext cx="4314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GeoTransolver（NVIDIA）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B27F3C-2DDD-411D-BBFC-86BC2F39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390650"/>
            <a:ext cx="45434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F8B2A9-EDCF-40EE-B5C2-77D25EAC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514475"/>
            <a:ext cx="4314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GeoPT（清華大 × MIT CSAIL）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6409EB-F3A3-4D4C-AEFC-F8F10B59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21907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4F3C65-EF45-43C3-B7EB-2264FF9D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24050"/>
            <a:ext cx="45434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C3BFD6-DDD8-4BD0-94BD-AF7ED2F3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24050"/>
            <a:ext cx="45434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F5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15953D-36A1-4F7C-8AE9-4D17C397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9240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アプローチの層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7E3412-945F-4D65-B79C-49678D86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19300"/>
            <a:ext cx="4238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アーキテクチャ改良：GALE・文脈C・multi-scale ball query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FE480A-E68D-4D92-8FDE-07EDA919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019300"/>
            <a:ext cx="4238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学習信号改良：合成ダイナミクスによる自己教師あり事前学習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8CA468-FE45-48C0-BD0D-7552FA66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0825"/>
            <a:ext cx="21907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9B9457-DC37-4DB1-B3B7-F3DE6C50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90825"/>
            <a:ext cx="45434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B5F858-516E-4DFE-A25B-F49706D5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90825"/>
            <a:ext cx="45434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0A5BB4-1E7C-468E-929B-F6042049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05125"/>
            <a:ext cx="19240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幾何の扱い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AEA083-5536-4FAD-A28E-2B648A88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86075"/>
            <a:ext cx="4238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◎ 独立した幾何点群を入力し、全層で文脈Cへcross-attention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7B4D58-30F9-489C-98BA-7B13564F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886075"/>
            <a:ext cx="4238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○ 幾何入力は持つが、各層で再参照する専用経路はない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695035-C2A5-4D51-B365-ED0BE1DF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21907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899E9A-DE55-4ECF-92E0-0176CF27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57600"/>
            <a:ext cx="45434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4DAE80-8B1B-4CDE-810C-82F5CF73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57600"/>
            <a:ext cx="45434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F5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340E52-32CC-44BE-80BA-59F43C22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71900"/>
            <a:ext cx="19240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学習データコスト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D5417D-6523-4B58-9CF0-8BCAE14F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752850"/>
            <a:ext cx="4238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△ 下流は通常の教師あり学習。CFDラベル量の削減が主目的ではない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B5A4CB-4AFD-489E-B226-A3F2434E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752850"/>
            <a:ext cx="4238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◎ ラベル要求20–60%削減、収束最大2倍を論文で報告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FCA592-8559-4C41-8A15-EEBA8844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24375"/>
            <a:ext cx="21907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048F3B-5C1A-46DA-BBAA-E7788949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524375"/>
            <a:ext cx="45434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38A6C7-28B9-4C64-BE5B-1D276715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24375"/>
            <a:ext cx="45434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5853CB-78FE-46CA-BC67-C4ED5D4D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38675"/>
            <a:ext cx="19240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少データ耐性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CBE81E-E911-4A37-82C0-F0B0143F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19625"/>
            <a:ext cx="4238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○ データ効率改善を報告。ただし少データ領域の保証ではない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87210B-BC7E-4B60-BA80-6611DD29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619625"/>
            <a:ext cx="4238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◎ 事前学習が有限データでの過学習を緩和し、モデル拡大に寄与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26C815-3148-4B6F-A169-ED392BF9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21907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46718B-9960-4B63-92A1-04B26DE6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391150"/>
            <a:ext cx="45434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E6A2FA-097E-41F2-B658-066F8C59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391150"/>
            <a:ext cx="45434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F5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F36EE3-B18D-48C5-BA62-16684147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05450"/>
            <a:ext cx="19240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運転条件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029F31-105A-4EBC-8458-03B8614C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486400"/>
            <a:ext cx="4238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◎ global parameterを文脈Cへ投影し、各層で条件付け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AA1A59-E894-4020-84FF-5B19EFF3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5486400"/>
            <a:ext cx="4238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○ task-specific velocity field Vₛで統一表現。入力条件として利用</a:t>
            </a:r>
          </a:p>
        </p:txBody>
      </p:sp>
    </p:spTree>
    <p:extLst>
      <p:ext uri="{BB962C8B-B14F-4D97-AF65-F5344CB8AC3E}">
        <p14:creationId xmlns:p14="http://schemas.microsoft.com/office/powerpoint/2010/main" val="101140368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8975B9-4005-4DF9-A04E-B8E22F0F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74EA8-B06A-412B-9515-CFB6F223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MERITS / DEMERITS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F0932D-AEDF-4376-82C3-B785E9FD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GeoTransolverとGeoPT：精度・コスト・導入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099F79-80C1-4AF4-A9CC-B6318699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9E8CC-78B4-4A5F-A0D6-B7626F55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762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8C95A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8C95A3"/>
                </a:solidFill>
                <a:latin typeface="Hiragino Sans"/>
                <a:ea typeface="Hiragino Sans"/>
                <a:cs typeface="Hiragino Sans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89A7A-9E4A-4196-89EB-68F2D0BB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FADC1-C670-49E7-BB8F-EEA58700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14475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観点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61315B-FCA0-447F-AD8F-C0C88BE4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390650"/>
            <a:ext cx="45434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1184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6AB2E-558A-4921-A326-F2DC0335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14475"/>
            <a:ext cx="4314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GeoTransolver（NVIDIA）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31663-5812-4BCD-8AB4-B384EEFB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390650"/>
            <a:ext cx="45434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4A0B11-9092-4FE7-8A50-F8C827D5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514475"/>
            <a:ext cx="4314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GeoPT（清華大 × MIT CSAIL）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629384-6E8C-40D4-AA1C-80014A7F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21907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0D15AF-DFAB-4112-97B0-A8213ECF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24050"/>
            <a:ext cx="45434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C2204B-B03D-490E-8FA6-FF4D3457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24050"/>
            <a:ext cx="45434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F5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176DD3-AEB4-41B6-8EA4-84680EE2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9240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物理ドメイン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252927-9D81-4740-87DB-F0225090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19300"/>
            <a:ext cx="4238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空力中心＋衝突力学2例。より広い転用は今後の検証対象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8C32EA-A460-492A-AE34-00AB8A53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019300"/>
            <a:ext cx="4238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空力・船舶・衝突・輻射まで単一事前学習の転用を実証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3B0B1B-3410-431B-B2D1-2819C1C8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0825"/>
            <a:ext cx="21907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7005CC-6EB2-4B16-AECF-F4AE9392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90825"/>
            <a:ext cx="45434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2BE1A6-1943-4E9D-99F5-FA7CAAAA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90825"/>
            <a:ext cx="45434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29851C-3F83-4501-BEF7-DAA2E68D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05125"/>
            <a:ext cx="19240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1タスク精度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77103F-CAA7-4480-B961-6D40D4B1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86075"/>
            <a:ext cx="4238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◎ SHIFT-SUV速度 1.36% vs Transolver 1.87%などSOTA級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C81F29-461F-4B50-B04A-868AB584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886075"/>
            <a:ext cx="4238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○ 同条件Scratchを一貫して改善。GeoTransolverとの直接対決は論文外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66B860-CAD0-4F7A-BE1E-EE8C2E2E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21907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E81C7E-076F-44E2-9103-A7B515D5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57600"/>
            <a:ext cx="45434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0CC031-B09C-4688-89FB-6B63D99A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57600"/>
            <a:ext cx="45434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F5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FFBD2B-2B50-4BAC-8359-7C4B3662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71900"/>
            <a:ext cx="19240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追加コスト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744240-A1E3-4242-A97A-B93E6400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752850"/>
            <a:ext cx="4238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△ multi-scale contextで論文条件の1 step費用は約2.1倍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887948-7A91-48B6-96B7-B1F0A019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752850"/>
            <a:ext cx="4238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○ 1.35M sample・200 epochの事前学習。推論時の構造的追加はほぼない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A19780-ADD8-4112-BE28-0693E409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24375"/>
            <a:ext cx="21907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87F232-3585-47B6-90D1-2C508465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524375"/>
            <a:ext cx="45434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61EBAE-28F1-4E2C-AAD3-594077E9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24375"/>
            <a:ext cx="45434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692EF4-24C4-493A-9106-2CAD9BC1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38675"/>
            <a:ext cx="19240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導入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3C7DF7-F641-439E-B475-9CC68DBA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19625"/>
            <a:ext cx="4238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◎ PhysicsNeMo実装。幾何点群とball query用データ整備が必要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FFFD7D-1AEB-445A-B6C2-3670EE84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619625"/>
            <a:ext cx="4238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○ 公開コード・重みからfine-tune。幾何の正規化と入力整列が重要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3AC9AC-466A-49F0-98C5-F24C7966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21907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4DF830-7B49-4FFC-A673-766257F3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391150"/>
            <a:ext cx="45434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A479E9-FA95-4A59-B408-1F54E214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391150"/>
            <a:ext cx="45434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F5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399D52-DE54-4AE0-8269-479EDDF7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05450"/>
            <a:ext cx="19240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本質的な限界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8F034C-EDD4-438B-A6B9-990C8F42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486400"/>
            <a:ext cx="4238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教師データ範囲外の極端形状は依然難しく、データボトルネックは残る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64573B3-B204-428F-8347-1E92BB3D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5486400"/>
            <a:ext cx="4238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合成輸送は実物理そのものではない。fine-tune必須、Vₛで全条件は表せない</a:t>
            </a:r>
          </a:p>
        </p:txBody>
      </p:sp>
    </p:spTree>
    <p:extLst>
      <p:ext uri="{BB962C8B-B14F-4D97-AF65-F5344CB8AC3E}">
        <p14:creationId xmlns:p14="http://schemas.microsoft.com/office/powerpoint/2010/main" val="39968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539AD7-86AD-498D-8BF2-FC74879F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F7B1F-C3EF-4EA4-B2B6-C1DF30C4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SYNTHESIS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30C9B-0340-4D4D-9085-6D06E3BD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両者はTransolverの「異なる弱点」を攻めている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0C846-FC25-41D7-A902-C4F805B1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41B21-133B-4217-A1E9-4E078844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762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8C95A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8C95A3"/>
                </a:solidFill>
                <a:latin typeface="Hiragino Sans"/>
                <a:ea typeface="Hiragino Sans"/>
                <a:cs typeface="Hiragino Sans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2AB6B-093D-48FD-93B5-9B31A778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43200"/>
            <a:ext cx="32385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19050">
            <a:solidFill>
              <a:srgbClr val="66708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2572DD-8E2C-4210-982F-60A158AC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956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Transolver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2D8711-E325-4816-8360-E1BB8D01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337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高速なPhysics Attention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4FBF9B-21EA-42C6-9F28-308F5C1E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067050" cy="192405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E7F5EF"/>
          </a:solidFill>
          <a:ln xmlns:a="http://schemas.openxmlformats.org/drawingml/2006/main" w="19050">
            <a:solidFill>
              <a:srgbClr val="1184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2E2FA9-EFC0-49F4-9B01-0C2BC1B8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1845B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1845B"/>
                </a:solidFill>
                <a:latin typeface="Hiragino Sans"/>
                <a:ea typeface="Hiragino Sans"/>
                <a:cs typeface="Hiragino Sans"/>
              </a:rPr>
              <a:t>GeoTransolver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7B6289-3782-4A38-B458-E55D88E2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解く弱点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6D4944-3ECE-4114-B881-C3D86835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60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形状情報の忘却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00B495-F4B2-451A-9940-5E41772D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各層で幾何文脈を再参照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62388-E9A7-49AE-AF3B-3F4E3D07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76400"/>
            <a:ext cx="3067050" cy="192405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FFF1DD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0CC5AF-F167-496A-B034-61B331F2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85950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rPr>
              <a:t>GeoPT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870231-7F25-413F-A9EB-D3715C71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解く弱点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0B3661-F91B-476F-AE14-A4F530D8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67000"/>
            <a:ext cx="260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教師データ生成コスト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796E37-10A3-46C0-AAF3-91F2B94D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432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solver-free事前学習で初期化</a:t>
            </a:r>
          </a:p>
        </p:txBody>
      </p:sp>
      <p:cxnSp>
        <p:nvCxnSpPr>
          <p:cNvPr id="42" name=""/>
          <p:cNvCxnSpPr>
            <a:stCxn xmlns:a="http://schemas.openxmlformats.org/drawingml/2006/main" id="6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 flipV="1">
            <a:off x="3752850" y="2638425"/>
            <a:ext cx="72390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1845B"/>
            </a:solidFill>
            <a:prstDash val="solid"/>
            <a:headEnd type="arrow" w="med" len="med"/>
          </a:ln>
        </p:spPr>
      </p:cxnSp>
      <p:cxnSp>
        <p:nvCxnSpPr>
          <p:cNvPr id="43" name=""/>
          <p:cNvCxnSpPr>
            <a:stCxn xmlns:a="http://schemas.openxmlformats.org/drawingml/2006/main" id="6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7715250" y="2638425"/>
            <a:ext cx="72390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7706"/>
            </a:solidFill>
            <a:prstDash val="solid"/>
            <a:head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CEF599-2570-4916-B0B3-FDE198D9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52950"/>
            <a:ext cx="9220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635D22-85D0-4965-8E1E-9E182461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62500"/>
            <a:ext cx="864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どちらか一方が、もう一方を代替する関係ではない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0DE708-47EC-4410-825D-EB0DED91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238750"/>
            <a:ext cx="864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GeoPTでも構造的なgeometry recall欠如は残り、GeoTransolverでもCFDラベルのボトルネックは残る。</a:t>
            </a:r>
          </a:p>
        </p:txBody>
      </p:sp>
    </p:spTree>
    <p:extLst>
      <p:ext uri="{BB962C8B-B14F-4D97-AF65-F5344CB8AC3E}">
        <p14:creationId xmlns:p14="http://schemas.microsoft.com/office/powerpoint/2010/main" val="4624280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895179-49F4-46DA-911E-FABAC492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3C1797-D923-4305-9A5A-1267F39E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NEXT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F56F2-44B9-40A5-9419-E67A09C8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次の一手：GeoPT事前学習をGeoTransolverへ移植する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B63E3-F125-429B-A0DE-FDD4EA86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06DC4A-3325-4149-AA38-1FFC4DC0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762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8C95A3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8C95A3"/>
                </a:solidFill>
                <a:latin typeface="Hiragino Sans"/>
                <a:ea typeface="Hiragino Sans"/>
                <a:cs typeface="Hiragino Sans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C0A81-FE7A-471C-A440-7FD8BD31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2400300" cy="1657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1DD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F13C7-9700-4160-BB5D-17DFF2AF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88681-7F7C-4F9F-863F-E6FBF342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rPr>
              <a:t>合成データ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9507F1-4307-4A90-9C84-235AD2E5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3D geometry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＋ random 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12E45A-904D-4795-978B-822EBA94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76400"/>
            <a:ext cx="2400300" cy="1657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7F5EF"/>
          </a:solidFill>
          <a:ln xmlns:a="http://schemas.openxmlformats.org/drawingml/2006/main" w="19050">
            <a:solidFill>
              <a:srgbClr val="1184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C5A386-EB62-4A68-B557-C3C843A3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288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845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1845B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0F7748-38F5-4705-A9BA-6DB12D9E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526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845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1845B"/>
                </a:solidFill>
                <a:latin typeface="Hiragino Sans"/>
                <a:ea typeface="Hiragino Sans"/>
                <a:cs typeface="Hiragino Sans"/>
              </a:rPr>
              <a:t>事前学習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17C581-2FB9-4E68-99BD-EBA14545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GeoTransolver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backbone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970F46-79F2-471F-A88E-49DA6DEC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76400"/>
            <a:ext cx="2400300" cy="1657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9050">
            <a:solidFill>
              <a:srgbClr val="1769A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BF9B52-54F5-49E7-8B67-B0A1DEBA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288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1EABA-8A9B-43EB-9B1B-25D30280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769AA"/>
                </a:solidFill>
                <a:latin typeface="Hiragino Sans"/>
                <a:ea typeface="Hiragino Sans"/>
                <a:cs typeface="Hiragino Sans"/>
              </a:rPr>
              <a:t>Fine-tune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6A7D31-65BA-4605-A4A3-4C6209BA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少量SHIFT-Wing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CFD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DCC883-FA33-4645-8456-37DEA159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76400"/>
            <a:ext cx="2400300" cy="1657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1BBB2D-0391-4F94-8ABB-A09B4DA6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288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C026E3-90D1-4F3F-A7C4-CC7BECCE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526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比較評価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72F91B-7696-43D1-AF58-F016588E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71750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A / B / C / 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複数seed・split</a:t>
            </a:r>
          </a:p>
        </p:txBody>
      </p:sp>
      <p:cxnSp>
        <p:nvCxnSpPr>
          <p:cNvPr id="58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857500" y="25050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  <a:tailEnd type="arrow" w="med" len="med"/>
          </a:ln>
        </p:spPr>
      </p:cxnSp>
      <p:cxnSp>
        <p:nvCxnSpPr>
          <p:cNvPr id="59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657850" y="25050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  <a:tailEnd type="arrow" w="med" len="med"/>
          </a:ln>
        </p:spPr>
      </p:cxnSp>
      <p:cxnSp>
        <p:nvCxnSpPr>
          <p:cNvPr id="60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458200" y="25050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35642E-A42C-48D4-8684-D6133818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33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理論上の根拠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C5346B-3956-49B9-9F65-46A75D8D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GeoPTはarchitecture-agnosticを明記。Transolver以外のbackboneでも改善を報告。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EBDCF5-DF80-4685-9D77-7B3B01C0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14750"/>
            <a:ext cx="0" cy="2133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FA12C2-77DF-44B2-BC5E-4C6B7562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33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実装上の論点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6ACB53-9AC6-43BA-84D2-68F48AC3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7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E718DE-3AF4-42DA-9BBC-C2836757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576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tracking point / geometry pointをGeoTransolverのquery・geometry入力へ対応付ける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727A45-E4EB-46FB-B412-CFA7013E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05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11845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A6D0B6-F8F2-4A47-93A1-28518364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910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文脈C・ball query・GALE gateを含む重みを事前学習で温める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7C61FE-49C4-4E20-9053-5B958CCD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38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F9F041-B3FB-462D-BBDE-420880D4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1244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幾何の正規化・座標整列とglobal parameter / Vₛの役割を設計する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747A0C-DC2E-44C0-9684-9D17E85A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1127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ED42F6-0692-47DA-9B67-65322177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狙い：形状参照の構造改善と、少量データでの学習効率を同時に得る</a:t>
            </a:r>
          </a:p>
        </p:txBody>
      </p:sp>
    </p:spTree>
    <p:extLst>
      <p:ext uri="{BB962C8B-B14F-4D97-AF65-F5344CB8AC3E}">
        <p14:creationId xmlns:p14="http://schemas.microsoft.com/office/powerpoint/2010/main" val="1538701439"/>
      </p:ext>
    </p:extLst>
  </p:cSld>
</p:sld>
</file>

<file path=ppt/theme/theme1.xml><?xml version="1.0" encoding="utf-8"?>
<a:theme xmlns:a="http://schemas.openxmlformats.org/drawingml/2006/main" name="ChatGPT">
  <a:themeElements>
    <a:clrScheme name="GeoPT GeoTransolver Study">
      <a:dk1>
        <a:srgbClr val="000000"/>
      </a:dk1>
      <a:lt1>
        <a:srgbClr val="FFFFFF"/>
      </a:lt1>
      <a:dk2>
        <a:srgbClr val="344054"/>
      </a:dk2>
      <a:lt2>
        <a:srgbClr val="EEF1F4"/>
      </a:lt2>
      <a:accent1>
        <a:srgbClr val="1769AA"/>
      </a:accent1>
      <a:accent2>
        <a:srgbClr val="11845B"/>
      </a:accent2>
      <a:accent3>
        <a:srgbClr val="D97706"/>
      </a:accent3>
      <a:accent4>
        <a:srgbClr val="C84B45"/>
      </a:accent4>
      <a:accent5>
        <a:srgbClr val="49566A"/>
      </a:accent5>
      <a:accent6>
        <a:srgbClr val="7A5AF8"/>
      </a:accent6>
      <a:hlink>
        <a:srgbClr val="1769AA"/>
      </a:hlink>
      <a:folHlink>
        <a:srgbClr val="7A5AF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eoPT GeoTransolver Stud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2026-08-11T19:54:12.5700000Z</dcterms:created>
  <dcterms:modified xsi:type="dcterms:W3CDTF">2026-08-11T19:54:12.5700000Z</dcterms:modified>
</coreProperties>
</file>