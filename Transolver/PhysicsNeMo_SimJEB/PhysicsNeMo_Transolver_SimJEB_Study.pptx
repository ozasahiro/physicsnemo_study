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3e92394eb644f2" /><Relationship Type="http://schemas.openxmlformats.org/officeDocument/2006/relationships/extended-properties" Target="/docProps/app.xml" Id="R40483f9404814121" /><Relationship Type="http://schemas.openxmlformats.org/officeDocument/2006/relationships/officeDocument" Target="/ppt/presentation.xml" Id="R9771817055b246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97ddc24571452b"/>
  </p:sldMasterIdLst>
  <p:notesMasterIdLst>
    <p:notesMasterId xmlns:r="http://schemas.openxmlformats.org/officeDocument/2006/relationships" r:id="Recf9f4b9d92a4c82"/>
  </p:notesMasterIdLst>
  <p:sldIdLst>
    <p:sldId xmlns:r="http://schemas.openxmlformats.org/officeDocument/2006/relationships" id="256" r:id="R22d81626507f42a7"/>
    <p:sldId xmlns:r="http://schemas.openxmlformats.org/officeDocument/2006/relationships" id="257" r:id="Redaaee8a07074ea1"/>
    <p:sldId xmlns:r="http://schemas.openxmlformats.org/officeDocument/2006/relationships" id="258" r:id="Ra2156df5f54148a4"/>
    <p:sldId xmlns:r="http://schemas.openxmlformats.org/officeDocument/2006/relationships" id="259" r:id="R84792edc0ba64869"/>
    <p:sldId xmlns:r="http://schemas.openxmlformats.org/officeDocument/2006/relationships" id="260" r:id="Rbc6eb831f0684c59"/>
    <p:sldId xmlns:r="http://schemas.openxmlformats.org/officeDocument/2006/relationships" id="261" r:id="Rf8e8db09b91048e9"/>
    <p:sldId xmlns:r="http://schemas.openxmlformats.org/officeDocument/2006/relationships" id="262" r:id="R68b1bab8f3114b81"/>
    <p:sldId xmlns:r="http://schemas.openxmlformats.org/officeDocument/2006/relationships" id="263" r:id="Rda3740c151fd48ce"/>
    <p:sldId xmlns:r="http://schemas.openxmlformats.org/officeDocument/2006/relationships" id="264" r:id="R15ec365f731c406a"/>
    <p:sldId xmlns:r="http://schemas.openxmlformats.org/officeDocument/2006/relationships" id="265" r:id="R989cc7fda8f54e31"/>
    <p:sldId xmlns:r="http://schemas.openxmlformats.org/officeDocument/2006/relationships" id="266" r:id="R15b9cf9e338143d1"/>
    <p:sldId xmlns:r="http://schemas.openxmlformats.org/officeDocument/2006/relationships" id="267" r:id="Rf61cfa686a8148f4"/>
    <p:sldId xmlns:r="http://schemas.openxmlformats.org/officeDocument/2006/relationships" id="268" r:id="Rfbe0b0fbce0442fa"/>
    <p:sldId xmlns:r="http://schemas.openxmlformats.org/officeDocument/2006/relationships" id="269" r:id="R69f0e95076e44b41"/>
    <p:sldId xmlns:r="http://schemas.openxmlformats.org/officeDocument/2006/relationships" id="270" r:id="R73a10ef24f374646"/>
    <p:sldId xmlns:r="http://schemas.openxmlformats.org/officeDocument/2006/relationships" id="271" r:id="Rddc740429ddc436a"/>
    <p:sldId xmlns:r="http://schemas.openxmlformats.org/officeDocument/2006/relationships" id="272" r:id="Rd03855418a754bb6"/>
    <p:sldId xmlns:r="http://schemas.openxmlformats.org/officeDocument/2006/relationships" id="273" r:id="R9476bcb861de427e"/>
    <p:sldId xmlns:r="http://schemas.openxmlformats.org/officeDocument/2006/relationships" id="274" r:id="R25f0750c93734b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2d528593a84c17" /><Relationship Type="http://schemas.openxmlformats.org/officeDocument/2006/relationships/slideMaster" Target="/ppt/slideMasters/slideMaster1.xml" Id="Rbb97ddc24571452b" /><Relationship Type="http://schemas.openxmlformats.org/officeDocument/2006/relationships/notesMaster" Target="/ppt/notesMasters/notesMaster1.xml" Id="Recf9f4b9d92a4c82" /><Relationship Type="http://schemas.openxmlformats.org/officeDocument/2006/relationships/presProps" Target="/ppt/presProps.xml" Id="Rd27a26b71a6a4d49" /><Relationship Type="http://schemas.openxmlformats.org/officeDocument/2006/relationships/tableStyles" Target="/ppt/tableStyles.xml" Id="R85f70ca2b2844020" /><Relationship Type="http://schemas.openxmlformats.org/officeDocument/2006/relationships/slide" Target="/ppt/slides/slide1.xml" Id="R22d81626507f42a7" /><Relationship Type="http://schemas.openxmlformats.org/officeDocument/2006/relationships/slide" Target="/ppt/slides/slide2.xml" Id="Redaaee8a07074ea1" /><Relationship Type="http://schemas.openxmlformats.org/officeDocument/2006/relationships/slide" Target="/ppt/slides/slide3.xml" Id="Ra2156df5f54148a4" /><Relationship Type="http://schemas.openxmlformats.org/officeDocument/2006/relationships/slide" Target="/ppt/slides/slide4.xml" Id="R84792edc0ba64869" /><Relationship Type="http://schemas.openxmlformats.org/officeDocument/2006/relationships/slide" Target="/ppt/slides/slide5.xml" Id="Rbc6eb831f0684c59" /><Relationship Type="http://schemas.openxmlformats.org/officeDocument/2006/relationships/slide" Target="/ppt/slides/slide6.xml" Id="Rf8e8db09b91048e9" /><Relationship Type="http://schemas.openxmlformats.org/officeDocument/2006/relationships/slide" Target="/ppt/slides/slide7.xml" Id="R68b1bab8f3114b81" /><Relationship Type="http://schemas.openxmlformats.org/officeDocument/2006/relationships/slide" Target="/ppt/slides/slide8.xml" Id="Rda3740c151fd48ce" /><Relationship Type="http://schemas.openxmlformats.org/officeDocument/2006/relationships/slide" Target="/ppt/slides/slide9.xml" Id="R15ec365f731c406a" /><Relationship Type="http://schemas.openxmlformats.org/officeDocument/2006/relationships/slide" Target="/ppt/slides/slide10.xml" Id="R989cc7fda8f54e31" /><Relationship Type="http://schemas.openxmlformats.org/officeDocument/2006/relationships/slide" Target="/ppt/slides/slide11.xml" Id="R15b9cf9e338143d1" /><Relationship Type="http://schemas.openxmlformats.org/officeDocument/2006/relationships/slide" Target="/ppt/slides/slide12.xml" Id="Rf61cfa686a8148f4" /><Relationship Type="http://schemas.openxmlformats.org/officeDocument/2006/relationships/slide" Target="/ppt/slides/slide13.xml" Id="Rfbe0b0fbce0442fa" /><Relationship Type="http://schemas.openxmlformats.org/officeDocument/2006/relationships/slide" Target="/ppt/slides/slide14.xml" Id="R69f0e95076e44b41" /><Relationship Type="http://schemas.openxmlformats.org/officeDocument/2006/relationships/slide" Target="/ppt/slides/slide15.xml" Id="R73a10ef24f374646" /><Relationship Type="http://schemas.openxmlformats.org/officeDocument/2006/relationships/slide" Target="/ppt/slides/slide16.xml" Id="Rddc740429ddc436a" /><Relationship Type="http://schemas.openxmlformats.org/officeDocument/2006/relationships/slide" Target="/ppt/slides/slide17.xml" Id="Rd03855418a754bb6" /><Relationship Type="http://schemas.openxmlformats.org/officeDocument/2006/relationships/slide" Target="/ppt/slides/slide18.xml" Id="R9476bcb861de427e" /><Relationship Type="http://schemas.openxmlformats.org/officeDocument/2006/relationships/slide" Target="/ppt/slides/slide19.xml" Id="R25f0750c93734b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e600307e554a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6a1633a53b417e" /><Relationship Type="http://schemas.openxmlformats.org/officeDocument/2006/relationships/notesMaster" Target="/ppt/notesMasters/notesMaster1.xml" Id="Rcf32aade97e944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5df775a9b64b10" /><Relationship Type="http://schemas.openxmlformats.org/officeDocument/2006/relationships/notesMaster" Target="/ppt/notesMasters/notesMaster1.xml" Id="Rff4fcd1e7b9040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1f5d7536014e24" /><Relationship Type="http://schemas.openxmlformats.org/officeDocument/2006/relationships/notesMaster" Target="/ppt/notesMasters/notesMaster1.xml" Id="R0ba4e7a5665047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633b589db448a6" /><Relationship Type="http://schemas.openxmlformats.org/officeDocument/2006/relationships/notesMaster" Target="/ppt/notesMasters/notesMaster1.xml" Id="R7ddde2668a144a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26d6e886c24667" /><Relationship Type="http://schemas.openxmlformats.org/officeDocument/2006/relationships/notesMaster" Target="/ppt/notesMasters/notesMaster1.xml" Id="R7eb915fb7b2a4a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f5a79286114540" /><Relationship Type="http://schemas.openxmlformats.org/officeDocument/2006/relationships/notesMaster" Target="/ppt/notesMasters/notesMaster1.xml" Id="Re2175bdfd59a44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4a642ecda146e9" /><Relationship Type="http://schemas.openxmlformats.org/officeDocument/2006/relationships/notesMaster" Target="/ppt/notesMasters/notesMaster1.xml" Id="R62c8833afa9243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8fa49753b84a31" /><Relationship Type="http://schemas.openxmlformats.org/officeDocument/2006/relationships/notesMaster" Target="/ppt/notesMasters/notesMaster1.xml" Id="Ra2c877ea932044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e00d0417534729" /><Relationship Type="http://schemas.openxmlformats.org/officeDocument/2006/relationships/notesMaster" Target="/ppt/notesMasters/notesMaster1.xml" Id="R591c1c231d5f41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aa7a25aaea4ee2" /><Relationship Type="http://schemas.openxmlformats.org/officeDocument/2006/relationships/notesMaster" Target="/ppt/notesMasters/notesMaster1.xml" Id="R9f3e0fda4b3340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eeb5eb563d4c49" /><Relationship Type="http://schemas.openxmlformats.org/officeDocument/2006/relationships/notesMaster" Target="/ppt/notesMasters/notesMaster1.xml" Id="R8eb0a70cd48149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0a11fee8c14faa" /><Relationship Type="http://schemas.openxmlformats.org/officeDocument/2006/relationships/notesMaster" Target="/ppt/notesMasters/notesMaster1.xml" Id="R487d9a8746924f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1e82a823e9416e" /><Relationship Type="http://schemas.openxmlformats.org/officeDocument/2006/relationships/notesMaster" Target="/ppt/notesMasters/notesMaster1.xml" Id="R40134988d6cf46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3dcc5a85404efd" /><Relationship Type="http://schemas.openxmlformats.org/officeDocument/2006/relationships/notesMaster" Target="/ppt/notesMasters/notesMaster1.xml" Id="R4207093b787e4f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991949ff6548a2" /><Relationship Type="http://schemas.openxmlformats.org/officeDocument/2006/relationships/notesMaster" Target="/ppt/notesMasters/notesMaster1.xml" Id="Rce1613af720d4c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6a0694bed04d53" /><Relationship Type="http://schemas.openxmlformats.org/officeDocument/2006/relationships/notesMaster" Target="/ppt/notesMasters/notesMaster1.xml" Id="Rffe68ce1a1e84f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27491ef1c8434b" /><Relationship Type="http://schemas.openxmlformats.org/officeDocument/2006/relationships/notesMaster" Target="/ppt/notesMasters/notesMaster1.xml" Id="Rdbecd9991aa54e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8e0b0368124283" /><Relationship Type="http://schemas.openxmlformats.org/officeDocument/2006/relationships/notesMaster" Target="/ppt/notesMasters/notesMaster1.xml" Id="R11a1235ce8af46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15786d563d428b" /><Relationship Type="http://schemas.openxmlformats.org/officeDocument/2006/relationships/notesMaster" Target="/ppt/notesMasters/notesMaster1.xml" Id="R0bb87da2b6d0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本資料は、空力・構造設計エンジニアがPhysicsNeMoを使い始めるためのコード導線を説明する。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https://simjeb.github.io/</a:t>
            </a:r>
          </a:p>
          <a:p xmlns:a="http://schemas.openxmlformats.org/drawingml/2006/main">
            <a:r>
              <a:t>- https://dataverse.harvard.edu/dataset.xhtml?persistentId=doi:10.7910/DVN/XFUWJG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PhysicsNeMo 2.1.1ではTransolverクラスと各引数を確認済み。base installではTransformer Engineを追加しないため、最小例でもuse_te=Falseを明示する。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https://pypi.org/project/nvidia-physicsnemo/2.1.1/</a:t>
            </a:r>
          </a:p>
          <a:p xmlns:a="http://schemas.openxmlformats.org/drawingml/2006/main">
            <a:r>
              <a:t>- https://docs.nvidia.com/physicsnemo/26.05/physicsnemo/api/models/transolver.html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モデルの数理実装と、対象問題を学習問題へ落とし込む作業を分けて説明する。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https://docs.nvidia.com/physicsnemo/latest/user-guide/physicsnemo_for_pytorch.html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SimJEBは381形状について4荷重ケース、各ケース5つの節点値フィールドを提供する。本教材では説明を単純化するため垂直荷重のみを使う。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https://simjeb.github.io/</a:t>
            </a:r>
          </a:p>
          <a:p xmlns:a="http://schemas.openxmlformats.org/drawingml/2006/main">
            <a:r>
              <a:t>- https://dataverse.harvard.edu/dataset.xhtml?persistentId=doi:10.7910/DVN/XFUWJG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表面点の座標と境界クラスを入力し、変位3成分とvon Mises応力を予測する教材タスク。変位大きさは3成分から後処理で算出する。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https://simjeb.github.io/</a:t>
            </a:r>
          </a:p>
          <a:p xmlns:a="http://schemas.openxmlformats.org/drawingml/2006/main">
            <a:r>
              <a:t>- https://docs.nvidia.com/physicsnemo/latest/physicsnemo/api/models/transolver.html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Colab Notebookのセルを、環境準備から推論まで6つのまとまりとして説明する。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https://docs.nvidia.com/physicsnemo/latest/getting-started/installation.html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説明時は、インストール操作よりもGPU認識とDrive接続の確認を重視する。教材Notebookでは検証済みのPhysicsNeMo 2.1.1へ固定する。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https://pypi.org/project/nvidia-physicsnemo/2.1.1/</a:t>
            </a:r>
          </a:p>
          <a:p xmlns:a="http://schemas.openxmlformats.org/drawingml/2006/main">
            <a:r>
              <a:t>- https://docs.nvidia.com/physicsnemo/latest/getting-started/installation.html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sNeMoおよびNVIDIA公式リポジトリにはprepare_simjebやSimJEB専用ローダーはない。本資料では架空の関数を使わず、教材Notebookの先頭セルでCSVから固定点数のTensorへ変換し、その後はPyTorch標準のTensorDataset、random_split、DataLoaderを使う。参加者は変換コードを開発せず、用意されたセルを実行するだけと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https://docs.pytorch.org/docs/stable/data.html</a:t>
            </a:r>
          </a:p>
          <a:p xmlns:a="http://schemas.openxmlformats.org/drawingml/2006/main">
            <a:r>
              <a:t>- https://docs.nvidia.com/physicsnemo/latest/physicsnemo/api/datapipes/physicsnemo.datapipes.html</a:t>
            </a:r>
          </a:p>
          <a:p xmlns:a="http://schemas.openxmlformats.org/drawingml/2006/main">
            <a:r>
              <a:t>- https://simjeb.github.io/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yzは解析前の節点位置、targetのux・uy・uzは荷重後の変位成分であり座標ではない。SimJEBのsurf値は、0が体積内部、1が通常の外表面、2が4つのボルト穴の固定側表面、3が荷重を分配するインターフェース穴表面。表面点のみを使う教材では1〜3をOne-Hot化する。maskは可変点数をpaddingする場合だけ使い、固定点数サンプリングでは省略でき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https://docs.nvidia.com/physicsnemo/latest/physicsnemo/api/models/transolver.html</a:t>
            </a:r>
          </a:p>
          <a:p xmlns:a="http://schemas.openxmlformats.org/drawingml/2006/main">
            <a:r>
              <a:t>- https://simjeb.github.io/</a:t>
            </a:r>
          </a:p>
          <a:p xmlns:a="http://schemas.openxmlformats.org/drawingml/2006/main">
            <a:r>
              <a:t>- https://dataverse.harvard.edu/dataset.xhtml?persistentId=doi:10.7910/DVN/XFUWJG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functional_dim、embedding_dim、out_dimは対象データに合わせる必須設定。それ以外はPhysicsNeMoのデフォルト値から開始する。use_te=FalseはTransformer Engineを使わない実行環境向けで、モデル性能の調整値ではない。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https://docs.nvidia.com/physicsnemo/latest/physicsnemo/api/models/transolver.html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表的なアーキテクチャ設定とPhysicsNeMoのデフォルト値。最初から調整する必要はなく、学習曲線、精度、GPUメモリを確認して必要な場合だけ一つずつ変更する。GeoPTを利用する場合は次ページの公開重み構成を優先し、この表の値を自由に変更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https://docs.nvidia.com/physicsnemo/latest/physicsnemo/api/models/transolver.html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GeoPT公式公開重みはオリジナルTransolverのstate-dict名で保存されている。同梱のload_geopt_checkpointはPhysicsNeMo 2.1.1のキー名へ変換し、Q/K/Vを結合、temperature軸を変換した上で、入力層とタスク固有出力層を除く147 tensorsを読み込む。公開重みを使ったforwardまで確認済み。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https://github.com/Physics-Scaling/GeoPT</a:t>
            </a:r>
          </a:p>
          <a:p xmlns:a="http://schemas.openxmlformats.org/drawingml/2006/main">
            <a:r>
              <a:t>- https://huggingface.co/GeoPT/GeoPT_Pretrained_Models</a:t>
            </a:r>
          </a:p>
          <a:p xmlns:a="http://schemas.openxmlformats.org/drawingml/2006/main">
            <a:r>
              <a:t>- https://github.com/NVIDIA/physicsnemo/blob/v2.1.1/physicsnemo/models/transolver/transolver.py</a:t>
            </a:r>
          </a:p>
          <a:p xmlns:a="http://schemas.openxmlformats.org/drawingml/2006/main">
            <a:r>
              <a:t>- https://github.com/NVIDIA/physicsnemo/blob/v2.1.1/physicsnemo/nn/module/physics_attention.py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学習ループの概念は通常のPyTorchと同じ。モデル内部のPhysics-Attentionもloss.backwardで一括更新される。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https://docs.nvidia.com/physicsnemo/latest/user-guide/physicsnemo_for_pytorch.html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数値はLoss曲線の読み方を説明するための模式値であり、SimJEBでの実測値ではない。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推論再現性のため、モデル設定と正規化統計をチェックポイントへ含める。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https://docs.pytorch.org/docs/stable/generated/torch.save.html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推論結果は必ず学習時と同じ統計量で逆正規化する。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https://docs.nvidia.com/physicsnemo/latest/physicsnemo/api/models/transolver.html</a:t>
            </a:r>
          </a:p>
          <a:p xmlns:a="http://schemas.openxmlformats.org/drawingml/2006/main">
            <a:r>
              <a:t>- https://docs.pytorch.org/docs/stable/generated/torch.inference_mode.html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左図はSimJEB論文に掲載されたFEA結果の説明図。教材で学習を実行した後は、FEA・予測・絶対誤差を同一視点・同一カラースケールで出力する。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https://simjeb.github.io/</a:t>
            </a:r>
          </a:p>
          <a:p xmlns:a="http://schemas.openxmlformats.org/drawingml/2006/main">
            <a:r>
              <a:t>- https://dataverse.harvard.edu/dataset.xhtml?persistentId=doi:10.7910/DVN/XFUWJG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PhysicsNeMo 2.1.1ではGeoTransolverはexperimental配下にあるため、配布版のimport先を明示する。表面点を形状点群として使う最小例ではgeometry_points=xyzとできる。include_local_features=Trueの場合はlocal_positionsも必要。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https://github.com/NVIDIA/physicsnemo/blob/v2.1.1/physicsnemo/experimental/models/geotransolver/geotransolver.py</a:t>
            </a:r>
          </a:p>
          <a:p xmlns:a="http://schemas.openxmlformats.org/drawingml/2006/main">
            <a:r>
              <a:t>- https://pypi.org/project/nvidia-physicsnemo/2.1.1/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締めでは、モデル内部の理解より先に、データ接続と一連の実行を経験することを強調する。GeoPTは検証済み構成でチェックポイントを指定するだけと説明し、公開重みと異なるアーキテクチャでは使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https://docs.nvidia.com/physicsnemo/latest/physicsnemo/api/models/transolver.html</a:t>
            </a:r>
          </a:p>
          <a:p xmlns:a="http://schemas.openxmlformats.org/drawingml/2006/main">
            <a:r>
              <a:t>- https://docs.nvidia.com/physicsnemo/latest/physicsnemo/api/models/geotransolver.html</a:t>
            </a:r>
          </a:p>
          <a:p xmlns:a="http://schemas.openxmlformats.org/drawingml/2006/main">
            <a:r>
              <a:t>- https://github.com/Physics-Scaling/GeoPT</a:t>
            </a:r>
          </a:p>
          <a:p xmlns:a="http://schemas.openxmlformats.org/drawingml/2006/main">
            <a:r>
              <a:t>- https://simjeb.github.io/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ac806512b41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dcda678cde49cb" /><Relationship Type="http://schemas.openxmlformats.org/officeDocument/2006/relationships/slideLayout" Target="/ppt/slideLayouts/slideLayout1.xml" Id="R3d872da7373c4b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872da7373c4b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645c482344e4d" /><Relationship Type="http://schemas.openxmlformats.org/officeDocument/2006/relationships/image" Target="/ppt/media/image.png" Id="Rd74a08f8a9c04be2" /><Relationship Type="http://schemas.openxmlformats.org/officeDocument/2006/relationships/notesSlide" Target="/ppt/notesSlides/notesSlide1.xml" Id="R4aa64d3a3b5042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26c11899944b7" /><Relationship Type="http://schemas.openxmlformats.org/officeDocument/2006/relationships/image" Target="/ppt/media/image2.png" Id="R753629f6b9064db4" /><Relationship Type="http://schemas.openxmlformats.org/officeDocument/2006/relationships/notesSlide" Target="/ppt/notesSlides/notesSlide2.xml" Id="Rcc73882df4284a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d8006fa3748eb" /><Relationship Type="http://schemas.openxmlformats.org/officeDocument/2006/relationships/notesSlide" Target="/ppt/notesSlides/notesSlide3.xml" Id="R57fa5b9f71f54f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1685b3c3d4c6e" /><Relationship Type="http://schemas.openxmlformats.org/officeDocument/2006/relationships/image" Target="/ppt/media/image3.png" Id="R4f92668cdbf94254" /><Relationship Type="http://schemas.openxmlformats.org/officeDocument/2006/relationships/notesSlide" Target="/ppt/notesSlides/notesSlide4.xml" Id="R29ba7d84b65649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8ee317d5146a2" /><Relationship Type="http://schemas.openxmlformats.org/officeDocument/2006/relationships/notesSlide" Target="/ppt/notesSlides/notesSlide5.xml" Id="R45830ec2f9514d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a1105df524051" /><Relationship Type="http://schemas.openxmlformats.org/officeDocument/2006/relationships/notesSlide" Target="/ppt/notesSlides/notesSlide6.xml" Id="R38cf84aba90242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10ed5b26c4a8c" /><Relationship Type="http://schemas.openxmlformats.org/officeDocument/2006/relationships/notesSlide" Target="/ppt/notesSlides/notesSlide7.xml" Id="R11064263049c4d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518747e814cbf" /><Relationship Type="http://schemas.openxmlformats.org/officeDocument/2006/relationships/notesSlide" Target="/ppt/notesSlides/notesSlide8.xml" Id="Rf5275f0808474e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3b0305c3d467b" /><Relationship Type="http://schemas.openxmlformats.org/officeDocument/2006/relationships/notesSlide" Target="/ppt/notesSlides/notesSlide9.xml" Id="R9ffbb56321624b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98d4ab44347f2" /><Relationship Type="http://schemas.openxmlformats.org/officeDocument/2006/relationships/notesSlide" Target="/ppt/notesSlides/notesSlide10.xml" Id="R09553a640abb42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c45418629408d" /><Relationship Type="http://schemas.openxmlformats.org/officeDocument/2006/relationships/notesSlide" Target="/ppt/notesSlides/notesSlide11.xml" Id="R6156bf989a374e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40990356b4c68" /><Relationship Type="http://schemas.openxmlformats.org/officeDocument/2006/relationships/image" Target="/ppt/media/image4.png" Id="Rb6ae381a661b40bb" /><Relationship Type="http://schemas.openxmlformats.org/officeDocument/2006/relationships/notesSlide" Target="/ppt/notesSlides/notesSlide12.xml" Id="R83c2c74938da43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3dfbb686b4ebb" /><Relationship Type="http://schemas.openxmlformats.org/officeDocument/2006/relationships/notesSlide" Target="/ppt/notesSlides/notesSlide13.xml" Id="R8c6dd847465d4b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ec0c7c2ec41e4" /><Relationship Type="http://schemas.openxmlformats.org/officeDocument/2006/relationships/chart" Target="/ppt/slides/charts/chart1.xml" Id="Rd2272115975f47e6" /><Relationship Type="http://schemas.openxmlformats.org/officeDocument/2006/relationships/notesSlide" Target="/ppt/notesSlides/notesSlide14.xml" Id="R52e359100bb44e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472b9f0e8423d" /><Relationship Type="http://schemas.openxmlformats.org/officeDocument/2006/relationships/notesSlide" Target="/ppt/notesSlides/notesSlide15.xml" Id="R03ffe51a50eb4a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6a99232864956" /><Relationship Type="http://schemas.openxmlformats.org/officeDocument/2006/relationships/notesSlide" Target="/ppt/notesSlides/notesSlide16.xml" Id="R295429889acc46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d56da91b547fb" /><Relationship Type="http://schemas.openxmlformats.org/officeDocument/2006/relationships/image" Target="/ppt/media/image5.png" Id="R024fedbaf8d44001" /><Relationship Type="http://schemas.openxmlformats.org/officeDocument/2006/relationships/notesSlide" Target="/ppt/notesSlides/notesSlide17.xml" Id="R9ae0f75f9e1442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dc36e4a3f4939" /><Relationship Type="http://schemas.openxmlformats.org/officeDocument/2006/relationships/notesSlide" Target="/ppt/notesSlides/notesSlide18.xml" Id="R158e8dea69874a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c7d197ce44740" /><Relationship Type="http://schemas.openxmlformats.org/officeDocument/2006/relationships/notesSlide" Target="/ppt/notesSlides/notesSlide19.xml" Id="Rd07e5dd3073d41c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train loss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D8DFF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</c:numLit>
          </c:cat>
          <c:val>
            <c:numLit>
              <c:formatCode>0.0</c:formatCode>
              <c:ptCount val="6"/>
              <c:pt idx="0">
                <c:v>1</c:v>
              </c:pt>
              <c:pt idx="1">
                <c:v>0.61</c:v>
              </c:pt>
              <c:pt idx="2">
                <c:v>0.42</c:v>
              </c:pt>
              <c:pt idx="3">
                <c:v>0.31</c:v>
              </c:pt>
              <c:pt idx="4">
                <c:v>0.24</c:v>
              </c:pt>
              <c:pt idx="5">
                <c:v>0.2</c:v>
              </c:pt>
            </c:numLit>
          </c:val>
        </c:ser>
        <c:ser>
          <c:idx val="1"/>
          <c:order val="1"/>
          <c:tx>
            <c:v>validation loss</c:v>
          </c:tx>
          <c:spPr>
            <a:ln xmlns:a="http://schemas.openxmlformats.org/drawingml/2006/main" w="28575">
              <a:solidFill>
                <a:srgbClr val="F59E0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59E0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</c:numLit>
          </c:cat>
          <c:val>
            <c:numLit>
              <c:formatCode>0.0</c:formatCode>
              <c:ptCount val="6"/>
              <c:pt idx="0">
                <c:v>1.08</c:v>
              </c:pt>
              <c:pt idx="1">
                <c:v>0.7</c:v>
              </c:pt>
              <c:pt idx="2">
                <c:v>0.53</c:v>
              </c:pt>
              <c:pt idx="3">
                <c:v>0.45</c:v>
              </c:pt>
              <c:pt idx="4">
                <c:v>0.42</c:v>
              </c:pt>
              <c:pt idx="5">
                <c:v>0.44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5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epoch</a:t>
                </a:r>
              </a:p>
            </c:rich>
          </c:tx>
          <c:overlay val="0"/>
        </c:title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5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loss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8BC4A-D0F7-413E-943B-21C6C372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PHYSICSNEMO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72FBD-9673-44F9-A8EE-8FE9658A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429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PhysicsNeMoで始める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Transolver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C971F-0C96-4895-A3B2-18C8D26D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SimJEBを使った構造解析サロゲートの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学習・推論コード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35853-BA15-4B36-B47E-69B23561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Google Colab 実装イメージ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B71C7-A7A4-4113-9AC8-29BF7A9D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09600"/>
            <a:ext cx="5524500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7A4F1-1095-4DFB-8637-C0350844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123950"/>
            <a:ext cx="50673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a08f8a9c04be2"/>
          <a:stretch xmlns:a="http://schemas.openxmlformats.org/drawingml/2006/main"/>
        </p:blipFill>
        <p:spPr>
          <a:xfrm xmlns:a="http://schemas.openxmlformats.org/drawingml/2006/main">
            <a:off x="6496050" y="1549903"/>
            <a:ext cx="5067300" cy="957843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DF901-5304-4F0A-9FC3-E16F336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SimJEB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E406A-C7EF-448C-81F7-284480C9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381 shapes  /  structural FEA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point-wise displacement &amp; stress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96B58-BF20-4E51-9375-426FF39A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816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モデル内部を自作せず、データと学習条件に集中する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9AF9F-6571-4AB2-9BAF-99EB0CC5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0A3B1-AC25-4980-993D-8F89D23B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3757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335AE-3DFF-4CD5-B5AA-A0C52EB8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 / 考え方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1062C-F49F-4D33-8B01-5F234ABF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モデルはPhysicsNeMoから呼び出せる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F72C1-92AB-4D6A-91E7-4CE57101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EE5FC-F0AA-43CA-B868-350ACEF5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1B724-258F-4BFF-890D-0FA3CCD2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0006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888A9-35BE-4AC5-B307-63930DC8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465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最小イメージ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571500" y="2124075"/>
            <a:ext cx="46577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45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167A0-2519-40C7-A384-C4B4C113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46577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physicsnemo.models.transolver import Transolver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Transolver(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functional_dim=3,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embedding_dim=3,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out_dim=4,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use_te=False,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5167B-456A-41D8-8C4E-42791D3F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573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アーキテクチャ内部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F685B-F068-41D5-BDAB-A3855C2C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98170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629f6b9064db4"/>
          <a:stretch xmlns:a="http://schemas.openxmlformats.org/drawingml/2006/main"/>
        </p:blipFill>
        <p:spPr>
          <a:xfrm xmlns:a="http://schemas.openxmlformats.org/drawingml/2006/main">
            <a:off x="6176127" y="1809750"/>
            <a:ext cx="5249945" cy="3714750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91F0C-8B85-41A4-9C89-E3B45E0D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25373-516C-4532-AF2B-D3C710D1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1220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自分で実装するのは、モデル内部ではなく「入力・正解・学習条件」の接続部分。</a:t>
            </a:r>
          </a:p>
        </p:txBody>
      </p:sp>
    </p:spTree>
    <p:extLst>
      <p:ext uri="{BB962C8B-B14F-4D97-AF65-F5344CB8AC3E}">
        <p14:creationId xmlns:p14="http://schemas.microsoft.com/office/powerpoint/2010/main" val="153055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7ED18-E1F2-4DC0-B11F-75CCDFC6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 / 考え方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CA1A2-DC32-4FAF-B0B4-EB48E59D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役割分担を決めると、実装範囲が見える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14D80-CDAD-48F5-8841-F04CE889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F7AE3-870E-4602-B75B-2F123E6C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AB019-86B3-4635-B6C0-D4EEC54D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535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PhysicsNeMoが担当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EF6F9-CA91-4683-9A8A-C6AA15A6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53530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9F4FA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AC460-1DE0-4BB3-A5E6-FFF780C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667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Physics-Attention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Transolver block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Forward計算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学習可能パラメータ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EC5EB-32A4-4675-A48C-7BAC52D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52575"/>
            <a:ext cx="535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9E0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59E0B"/>
                </a:solidFill>
                <a:latin typeface="Yu Gothic"/>
                <a:ea typeface="Yu Gothic"/>
                <a:cs typeface="Yu Gothic"/>
              </a:rPr>
              <a:t>利用者が担当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71400-12C5-410B-9A59-E2DD35FF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57400"/>
            <a:ext cx="53530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D629F-0117-48D4-BF9C-42968655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667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入力に何を使うか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何を予測するか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データの分割・正規化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Loss・評価指標・保存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05B2B-3966-47E9-B380-F2AC481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00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9E0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59E0B"/>
                </a:solidFill>
                <a:latin typeface="Yu Gothic"/>
                <a:ea typeface="Yu Gothic"/>
                <a:cs typeface="Yu Gothic"/>
              </a:rPr>
              <a:t>設計エンジニアの知識が効く領域</a:t>
            </a:r>
          </a:p>
        </p:txBody>
      </p:sp>
    </p:spTree>
    <p:extLst>
      <p:ext uri="{BB962C8B-B14F-4D97-AF65-F5344CB8AC3E}">
        <p14:creationId xmlns:p14="http://schemas.microsoft.com/office/powerpoint/2010/main" val="1235153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04DAF-3427-46DB-BB5A-CF471CAC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 / 題材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00276-8BBE-424F-AD06-FCF9AF2D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SimJEBは形状と構造解析結果がそろっている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75370-1545-4CA8-8A1F-A6A2F19C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5217D-40E9-49D1-A924-7D872701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5E598-C82A-4CE2-A02F-978F7A8D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714375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2668cdbf94254"/>
          <a:stretch xmlns:a="http://schemas.openxmlformats.org/drawingml/2006/main"/>
        </p:blipFill>
        <p:spPr>
          <a:xfrm xmlns:a="http://schemas.openxmlformats.org/drawingml/2006/main">
            <a:off x="400050" y="2048979"/>
            <a:ext cx="7143750" cy="1350343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64B0F-3840-48DB-A468-18FBAB26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39433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ED421-A7DC-4536-9E11-3CCA7ADF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0972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32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381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46E70-0C06-4BB5-90D6-B2D6447F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811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ブラケット形状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82DB2-7D2B-4F4C-9D5E-1241D14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39433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9E483-54BA-4F8C-B041-0D03183F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384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59E0B"/>
                </a:solidFill>
                <a:latin typeface="Yu Gothic"/>
                <a:ea typeface="Yu Gothic"/>
                <a:cs typeface="Yu Gothic"/>
              </a:defRPr>
            </a:pPr>
            <a:r>
              <a:rPr sz="3225" b="1">
                <a:solidFill>
                  <a:srgbClr val="F59E0B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C3DCF-3719-4276-A4DC-7842395D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荷重ケース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F6BEB-AADE-4CC4-9E58-5ACF0D51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39433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E6ADD-27C7-425C-8DE7-CCB60937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671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32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201C0-0C73-4039-8B68-D9251719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386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節点ごとの物理量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8834C-4185-4226-AB67-4F6B7EA4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最初の教材では「表面点 × 垂直荷重」に絞る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A4B75-53F8-48F2-940C-9DD7EAA1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714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入力と正解の関係が明快で、学習・推論の一連の流れを説明しやすい。</a:t>
            </a:r>
          </a:p>
        </p:txBody>
      </p:sp>
    </p:spTree>
    <p:extLst>
      <p:ext uri="{BB962C8B-B14F-4D97-AF65-F5344CB8AC3E}">
        <p14:creationId xmlns:p14="http://schemas.microsoft.com/office/powerpoint/2010/main" val="189859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9C588-A3DB-41A3-9252-E2BD6261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 / 題材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11CC2-76F5-4520-8C43-CCCEC090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学習問題は「点の情報から4物理量を予測」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4EE64-7F74-453D-921F-049D1F4E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788EC-032E-40F6-B8D3-EAAE3BE0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F8EFF-F76D-4044-A8AB-276F53A4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952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9F4FA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D6B07-D692-4D82-A369-0F1928B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DCBF4"/>
                </a:solidFill>
                <a:latin typeface="Yu Gothic"/>
                <a:ea typeface="Yu Gothic"/>
                <a:cs typeface="Yu Gothic"/>
              </a:rPr>
              <a:t>入力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974CF-C2B7-4CA9-9B4B-49909EE7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33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座標 xyz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(B, N, 3)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ED1AE-F73B-4758-BA29-CF2B9BA6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952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1EA9A-C0D6-4AB5-89BA-6832EA5E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336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9E0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59E0B"/>
                </a:solidFill>
                <a:latin typeface="Yu Gothic"/>
                <a:ea typeface="Yu Gothic"/>
                <a:cs typeface="Yu Gothic"/>
              </a:rPr>
              <a:t>入力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92EE4-2CEF-42AE-BEC4-39308DFF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2533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境界クラス one-hot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(B, N, 3)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08743-219B-43E9-A917-6F946091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5052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159A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02425-C6AF-44F6-9FA6-3E81AAED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9A7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59A75"/>
                </a:solidFill>
                <a:latin typeface="Yu Gothic"/>
                <a:ea typeface="Yu Gothic"/>
                <a:cs typeface="Yu Gothic"/>
              </a:rPr>
              <a:t>正解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D4386-8661-4D76-B5D6-D8C7585A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3086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変位 ux, uy, uz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＋ von Mises応力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(B, N, 4)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1B0B0-CAA7-4EF7-9232-DCB5AA63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1047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3483C-923F-4949-814F-180AFBFD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Transolver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269AF-FDEB-40B1-A3FA-A4032C2B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N = 形状ごとの点数。学習時は同じ数だけサンプリングする。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DC25A-9385-489D-BA44-22F51527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83C27-A043-4847-859C-079278F4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220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変位の大きさは ux, uy, uz から計算できるため、最初の出力には含めない。</a:t>
            </a:r>
          </a:p>
        </p:txBody>
      </p:sp>
    </p:spTree>
    <p:extLst>
      <p:ext uri="{BB962C8B-B14F-4D97-AF65-F5344CB8AC3E}">
        <p14:creationId xmlns:p14="http://schemas.microsoft.com/office/powerpoint/2010/main" val="881436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ACB8A3-B3C8-4A37-8401-1A538A1B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 / 全体フロー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9C8EB-8C1D-475E-B2D2-198F94EE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Colabでは6つのセル群で一周できる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C04C3-61CA-4475-A347-9B44DE99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C66A5-62E9-4796-A69A-8F2FEFF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72A2D-FBB5-492E-9069-F11F29CF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581150" cy="214312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41378-7807-406C-ABF7-EFCC5927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677DD-BE70-4C46-AB8F-5477DBB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150EB-8CC2-4E28-A610-01F200FB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準備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CFD8D-77CE-438C-B295-58A6DBA5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Drive接続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79396-1742-4948-9894-E578E1E7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623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D58EE-BAA9-49DD-B2C4-9C94E7A2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38375"/>
            <a:ext cx="1581150" cy="214312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1D667-E50F-4A8E-8038-8E6BCD86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B177E-C7B7-4246-AFB5-D70962BB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48757-0D6E-4106-988A-E251A883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データ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ABB28-D87F-47E9-970D-A8F93160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76625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読込・分割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正規化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B8BBD-F120-435C-A09E-6F5F5AB0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1623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ABE36-5FC6-4719-A4BB-ED4B65CA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38375"/>
            <a:ext cx="1581150" cy="214312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9F42F-7A3E-40AE-80B9-40F2E079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B00EE-75CA-47B2-BEA6-93033F76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BADF7-DA17-437D-8A92-F925F620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モデル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02E00-D4E4-49A9-AB75-F1D6702C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76625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Transolverを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38AA04-DC12-4973-B0B3-18E49702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623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369CFD-674E-4AA8-AB47-6F39BB0D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38375"/>
            <a:ext cx="1581150" cy="214312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2B4C81-E9F5-4F55-95A9-312723BD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72E42-999E-4836-818D-46FBE449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C0D9B7-A59B-4E39-B9ED-181BAEA6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学習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D2CACE-66D2-461E-B7E3-87903D12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Loss計算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重み更新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BE506-9520-486D-BEFF-7BCC8334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623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FDDF3-422D-4450-B2C9-21B2C6BE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38375"/>
            <a:ext cx="1581150" cy="214312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19050">
            <a:solidFill>
              <a:srgbClr val="159A7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69816-11EE-41DD-8610-F7580D5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9B89EB-C610-49D8-9903-EA25A9FC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2AB4A7-3E1B-4B4C-BE83-A10E8BA9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保存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469956-A337-48B0-9336-589B0D35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重み・正規化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情報を保存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1635B6-437C-4343-BE15-5EF797E8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623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FBE874-B2BE-4B44-B958-5EBF5661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38375"/>
            <a:ext cx="1581150" cy="214312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19050">
            <a:solidFill>
              <a:srgbClr val="159A7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7413E3-2BB7-47BB-B77F-F02E9EEF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476075-3E4D-4FBD-B967-3F666AEA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ED9AAB-283B-4677-B047-2CC5C80C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527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推論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75F224-B539-48AF-BF69-0E834257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予測・逆正規化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可視化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2E0C79-3830-444B-A2CB-C44E519A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00625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57CCDD-6334-4D64-808A-592423F6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00625"/>
            <a:ext cx="7448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次のスライドから、この順番で代表コードを見る。</a:t>
            </a:r>
          </a:p>
        </p:txBody>
      </p:sp>
    </p:spTree>
    <p:extLst>
      <p:ext uri="{BB962C8B-B14F-4D97-AF65-F5344CB8AC3E}">
        <p14:creationId xmlns:p14="http://schemas.microsoft.com/office/powerpoint/2010/main" val="1403454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34BE5-439B-43C5-B3A6-4221B34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 /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FF290-2940-437B-94DC-8FFA8A7F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まずPhysicsNeMoとGPUを準備する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9C2EE-05F7-491D-8E0E-2726F1AA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A9C8A-540F-4AE4-AC3F-7783CEE9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25349-ED8A-44A8-B5FA-3924ACC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953250" cy="4572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C135A-0ADB-4C83-9AC7-6E7050DC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Google Colab cell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571500" y="1838325"/>
            <a:ext cx="661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45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CE22B-D8D6-41DA-B691-1F9A1FC3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66103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!pip install -q nvidia-physicsnemo==2.1.1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2C848-F882-44E0-AB3B-7EAE224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このコードで何をしているか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75CCB-EBEA-4C30-A1D7-8F925B75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28800"/>
            <a:ext cx="4171950" cy="36004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7820A-287B-4483-AE30-22719792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C7127-A6AE-4DF0-A02B-7CA55805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62118-D249-4963-8FA9-C1B61DA3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PhysicsNeMoをColab環境へ追加する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C7780-37DE-4E38-BBE4-8C93D318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0DD5F-BFE8-4103-AC46-D0EF4F13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5ABCE-E228-401A-BA4F-5E6DBC74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Drive上のデータと保存先を使えるようにする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5205C-9F50-46C5-9D08-0FF1F83C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21632-9BAE-44A1-BF67-48FF0AD1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4FF18-5B6D-443A-91AF-D12D3252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GPUが使える場合は自動でCUDAを選ぶ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C8F51-FF6B-4A26-9C90-6124E52D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007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E1891-B042-4C62-89FA-94EE8DBC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007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880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教材Notebookでは、確認済みのPhysicsNeMo版を固定する。</a:t>
            </a:r>
          </a:p>
        </p:txBody>
      </p:sp>
    </p:spTree>
    <p:extLst>
      <p:ext uri="{BB962C8B-B14F-4D97-AF65-F5344CB8AC3E}">
        <p14:creationId xmlns:p14="http://schemas.microsoft.com/office/powerpoint/2010/main" val="1762875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85BF1B-0B59-49C6-9CD3-580C078A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 /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745A7-3383-4D77-95B5-A80A09EE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データ読込はPyTorch標準機能で進める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38799-DC1F-4C5E-9D2F-E57AFFFF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FF153-4D3A-45AF-A141-0A7D3963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A61B7-8C79-47EE-BF32-AA547083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953250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2E828-0C01-425F-8C8D-4262EBE4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Google Colab cell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571500" y="1838325"/>
            <a:ext cx="661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45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2608D-7721-44E8-8A88-77EF6EF9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66103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torch.utils.data import (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TensorDataset, DataLoader, random_split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bundle = torch.load(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SIMJEB_TENSOR_FILE, weights_only=True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dataset = TensorDataset(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bundle["features"], bundle["xyz"], bundle["target"]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train_set, val_set = random_split(dataset, [0.8, 0.2])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train_loader = DataLoader(train_set, batch_size=1, shuffle=True)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val_loader = DataLoader(val_set, batch_size=1)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stats = bundle["normalization"]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4EE72-6702-4FC5-94D5-302AEEFE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このコードで何をしているか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94D5E-D70B-4757-A56E-F72A0C81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28800"/>
            <a:ext cx="4171950" cy="36004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587D5-8DDA-44B5-9801-C10FC36B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CA777-D989-4B69-8B6D-C62C4F54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B94B2-9C3C-4ACF-BFCE-FD4C0DD5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SimJEBのCSV変換セルは教材Notebookに用意する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215E6-FA12-4272-9294-CDFE6D54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8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05B44-9FC5-44DD-B662-3BF08897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89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3B964-C5B4-4072-AD32-CAAD7E5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変換後はPyTorch標準のTensorDatasetへ入れる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3F5D7-2E93-4B75-BF94-A8F6C805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861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435B2-311D-4668-9C5C-43A91C51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861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44FD0-7E65-40FB-94E7-8987D79A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random_splitで形状を学習用・確認用に分ける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7287E-B7E9-49E0-AEBB-7CC321E9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43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CEA2B-7A34-4A40-AB89-8B99B888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434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E419C7-5311-4E06-A865-5B196195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1485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DataLoaderが学習ループへ順番にデータを渡す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B94C6-9967-4E2E-A912-7982CE84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40D5F-CCF1-4978-91A3-60B186E3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197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参加者が関数やクラスを開発する必要はない。Notebookを上から実行する。</a:t>
            </a:r>
          </a:p>
        </p:txBody>
      </p:sp>
    </p:spTree>
    <p:extLst>
      <p:ext uri="{BB962C8B-B14F-4D97-AF65-F5344CB8AC3E}">
        <p14:creationId xmlns:p14="http://schemas.microsoft.com/office/powerpoint/2010/main" val="16357114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636251-E810-4281-A0A7-5853BEC8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 /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F6BF9-EB51-41DA-9445-E8C6FE85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3つの配列を、設計情報と解析結果へ読み替える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482F9-DB10-44B4-BB7E-2A8DE15B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D146D-2DF9-484B-8450-A9C9725F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9148D-AEBC-4516-8DAA-20325117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429250" cy="21336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9F4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3F52B-4ACF-4E97-9434-C59738E2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429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57723-FA5E-4083-B28A-C519E907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xyz  (B, N, 3)  |  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33457-951C-4560-80B2-60A4709F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09700"/>
            <a:ext cx="5429250" cy="21336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77D7F-6A63-4959-A69B-116502F1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09700"/>
            <a:ext cx="5429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0C48C-2405-46C8-A738-B3D6A377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954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features  (B, N, 3)  |  入力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A07BD-1B64-48FA-912C-7F56880B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429250" cy="22479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159A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2BDDF-4113-4249-91A6-2016576D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429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EFCC9-D032-41E6-B3BA-57B19A28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95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target  (B, N, 4)  |  正解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436DD-C324-4ACD-AAAA-E09E924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5429250" cy="22479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62124-F8BB-4162-8262-49824564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5429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C5CE4-116B-40C7-AC1A-1D8B24F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95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B・N・mask  |  配列をそろえる情報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F0839-B124-49F4-BC15-CBF869FD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解析前の各点の位置座標（単位: mm）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52B51-32D1-45B5-8665-219B95CA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1点を [x, y, z] の3つの数値で表す。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例: [56.5, -114.3, 14.7]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荷重をかける前の位置であり、変位ではない。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B9FD0-B82B-498D-B93B-AA6656E2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境界クラス = その点が担う役割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E6C5C-F4DA-4FD7-AD7B-E4CFBCE9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01820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101820"/>
                </a:solidFill>
                <a:latin typeface="Menlo"/>
                <a:ea typeface="Menlo"/>
                <a:cs typeface="Menlo"/>
              </a:rPr>
              <a:t>通常の外表面   surf=1  →  [1, 0, 0]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01820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101820"/>
                </a:solidFill>
                <a:latin typeface="Menlo"/>
                <a:ea typeface="Menlo"/>
                <a:cs typeface="Menlo"/>
              </a:rPr>
              <a:t>ボルト穴の固定面 surf=2  →  [0, 1, 0]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01820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101820"/>
                </a:solidFill>
                <a:latin typeface="Menlo"/>
                <a:ea typeface="Menlo"/>
                <a:cs typeface="Menlo"/>
              </a:rPr>
              <a:t>荷重を与える面   surf=3  →  [0, 0, 1]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BB85E-6403-4B0A-A2C2-98063AEE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One-Hot: 該当する役割だけを1、他を0にする表し方。座標ではない。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28453-2A87-45FA-ADED-22C2C390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ux・uy・uzは座標ではなく、荷重で生じた変位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6CD13-66B6-495F-BFB9-BD771BC9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ux: X方向の移動量 / uy: Y方向 / uz: Z方向（mm）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変形後の位置 = [x + ux, y + uy, z + uz]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4つ目は von Mises応力。これらがモデルに覚えさせる正解。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E61680-3B8A-4073-B700-64591618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B = 一度に処理するブラケット形状の数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A9C0C-C56B-460C-91A8-1BAD633E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910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batch_size=1なら、1回の計算で1形状を処理する。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N = 1形状から使う点数（本例では8,192点）。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200C7-AAA3-4B65-A255-713D3207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768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mask = 点数をそろえるために追加したダミー点を除外する印。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実点=True、ダミー=False。今回はNを固定するため原則不要。</a:t>
            </a:r>
          </a:p>
        </p:txBody>
      </p:sp>
    </p:spTree>
    <p:extLst>
      <p:ext uri="{BB962C8B-B14F-4D97-AF65-F5344CB8AC3E}">
        <p14:creationId xmlns:p14="http://schemas.microsoft.com/office/powerpoint/2010/main" val="826836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23570-A117-4E64-B76F-11B980AE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 /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C903F-A465-45EE-AD94-AF482286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Transolverはまずデフォルト設定で始める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D3C32-F4AF-4ED5-AA8D-4CFA019E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5F475-6A8A-4468-B644-518E04F1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31C57-D181-4D12-B68C-77C5108E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953250" cy="4572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9B7B8-E5BA-45BD-A7F7-039BC5B6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Google Colab cell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571500" y="1838325"/>
            <a:ext cx="661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45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7BA66-6F9B-45DC-B006-F2ECDA83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66103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physicsnemo.models.transolver import Transolver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Transolver(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functional_dim=3,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embedding_dim=3,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out_dim=4,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use_te=False,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).to(device)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5248D-339C-4AAA-86F8-DE9D0063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このコードで何をしているか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03BCB-E7DC-45B5-87F0-35D5B5C9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28800"/>
            <a:ext cx="4171950" cy="36004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9D282-4C0E-4200-A195-5C2137B3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E3C25-8B3C-4A4B-988B-13387FC7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C1358-8E2D-43D0-93E3-577F3CA3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対象データに合わせて入出力次元だけ指定する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2046C-6708-4ED7-B9F6-595959AB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985D4-2053-4477-95B5-2FB59DC2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7A821-8B82-462A-AF4F-5C77C3BC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層数・hidden・head・sliceは自動でデフォルト値になる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21EC5-4B4C-4D15-A560-241B8252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08C0F-E0AB-453B-AFAF-77F2A5F0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89C55-A61D-43DC-A0B3-79CC28EB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use_te=Falseは通常のColab環境で動かすための指定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C5A56-B394-47E4-9AD4-6C92FB17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007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B724F-EA14-47AE-8D1A-D70EB23A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007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827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初期値: 4層 / hidden 256 / 8 heads / 32 slices。最初は調整不要。</a:t>
            </a:r>
          </a:p>
        </p:txBody>
      </p:sp>
    </p:spTree>
    <p:extLst>
      <p:ext uri="{BB962C8B-B14F-4D97-AF65-F5344CB8AC3E}">
        <p14:creationId xmlns:p14="http://schemas.microsoft.com/office/powerpoint/2010/main" val="12174154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DE87FA-0E5D-4583-B247-80CDFCE2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 /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7ACA5-8ADA-4105-9107-84581B80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性能調整は、必要になってから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BBA4A-02D4-423E-984F-2E31CFC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6BEC3-02AE-451C-AF4B-BBBAFA97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4C82F-70A2-44CC-B688-33A01FED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CAA76-2A33-428B-9C81-19EFC54C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パラメータ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8B991-558C-4188-B826-839CA0F4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71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デフォルト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34951-47EC-44FB-89EB-96EB7CCD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何を調整するか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1F6C9-0504-4974-9DEC-FD869F17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変更すると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16642-FB10-4CA1-8544-DB8E3198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0A4E0-170B-4542-ADBF-F797AD56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820"/>
                </a:solidFill>
                <a:latin typeface="Menlo"/>
                <a:ea typeface="Menlo"/>
                <a:cs typeface="Menlo"/>
              </a:rPr>
              <a:t>n_layers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D165A-C7B4-4FAF-BDB5-51EBFC12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1EF5B-AFC8-4B9E-894A-7D591B25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Transolver blockの段数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327B8-0875-40C5-B776-BA01A3F8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増やすと表現力・計算量・メモリが増える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9ACAC-E801-4D96-B370-F0933CD7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4036B-9220-47EB-8AE8-7F690CC6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7652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820"/>
                </a:solidFill>
                <a:latin typeface="Menlo"/>
                <a:ea typeface="Menlo"/>
                <a:cs typeface="Menlo"/>
              </a:rPr>
              <a:t>n_hidden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D8E48-92DF-4ABB-AB77-21804F7F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765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256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8690E-2AB9-41C0-9650-CDA33E57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765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点／tokenが持つ特徴幅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B7069C-94D8-44B8-B0FB-14DF696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76525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増やすと容量とメモリ使用量が増える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2F6FA-3BD7-4677-9460-6A6AD30C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4DCA8-F356-47E2-ACA1-93EFD185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820"/>
                </a:solidFill>
                <a:latin typeface="Menlo"/>
                <a:ea typeface="Menlo"/>
                <a:cs typeface="Menlo"/>
              </a:rPr>
              <a:t>n_head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0BA16-645B-43DD-8842-CAFD750B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766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2EB67-2F6C-400F-ACAB-684BB527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Attentionを並列に見る数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56473-55B3-49F5-8173-2328222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n_hiddenを割り切れる値にする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FD6FC-6C72-496E-B13B-17E6FAE3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BB71FF-A45B-4B6F-9125-C8F2B72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7667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820"/>
                </a:solidFill>
                <a:latin typeface="Menlo"/>
                <a:ea typeface="Menlo"/>
                <a:cs typeface="Menlo"/>
              </a:rPr>
              <a:t>slice_num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98DF44-9A8A-4478-BC37-AA7F20C0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7667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8354B-241D-402A-8EFB-59BC332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76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physics sliceの数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502702-A2D3-4D15-A7C7-106BBE27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76675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増やすと細分化できるがAttention計算も増える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D51CE3-0151-463E-B66C-4EAF90F7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04A820-E055-4E2B-A97D-2A911119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820"/>
                </a:solidFill>
                <a:latin typeface="Menlo"/>
                <a:ea typeface="Menlo"/>
                <a:cs typeface="Menlo"/>
              </a:rPr>
              <a:t>mlp_ratio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E31870-47D4-481C-89FC-9A68AC3C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40DEC8-5405-403F-A028-A29FB7C4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MLP内部の拡張倍率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15F7A3-FEBA-4E63-89AB-D5DFEE9B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増やすと容量と計算量が増える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0A6E23-0E63-470B-99F6-462B3903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7FDEF0-200A-4CE8-818B-D69BC0F2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7682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820"/>
                </a:solidFill>
                <a:latin typeface="Menlo"/>
                <a:ea typeface="Menlo"/>
                <a:cs typeface="Menlo"/>
              </a:rPr>
              <a:t>dropout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B28B40-204F-4D05-8B95-BECCF7B1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768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0.0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1F6452-9D58-45FD-B5D7-04AE9D26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768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過学習を抑える割合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32094A-E92F-4CFA-A3C8-EFD7F6BA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76825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過学習が見えた場合に小さく追加する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9D948C-4734-4827-8484-EAE671E3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C113BF-3975-4313-9824-16494F79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22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基本はデフォルトのまま。GeoPT使用時は公開重みの構成を維持する。</a:t>
            </a:r>
          </a:p>
        </p:txBody>
      </p:sp>
    </p:spTree>
    <p:extLst>
      <p:ext uri="{BB962C8B-B14F-4D97-AF65-F5344CB8AC3E}">
        <p14:creationId xmlns:p14="http://schemas.microsoft.com/office/powerpoint/2010/main" val="3580000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1E608-DC8E-49E5-8CC5-2B50BF6A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 /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30C23-36A5-4F12-8BAD-6BCE5535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GeoPTは公開重みと同じ構成で読み込む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E07B0-5508-49CD-A5B3-C7003581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2CE3F-85E1-42BC-8B20-F4C3A4F3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8396A-9783-4B99-A83F-2F33D2C1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6572250" cy="38100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FA435-60DF-4F35-AAC3-F9C6CEEF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622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検証済みのGeoPT初期化セル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571500" y="1819275"/>
            <a:ext cx="6229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45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1AB83-5F4A-40B1-9B85-274E9AFD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6229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physicsnemo.models.transolver import Transolver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geopt_checkpoint import load_geopt_checkpoint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Transolver(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functional_dim=3, embedding_dim=3, out_dim=4,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n_layers=8, n_hidden=256, n_head=8,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mlp_ratio=2, slice_num=32, use_te=False,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).to(device)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report = load_geopt_checkpoint(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model, "/content/drive/MyDrive/GeoPT_8layers.pt"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FB19D-3AD2-46EA-8FAC-1C7F21EB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このコードで何をしているか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0F256-C05C-4C72-9E79-70019857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552950" cy="3409950"/>
          </a:xfrm>
          <a:prstGeom xmlns:a="http://schemas.openxmlformats.org/drawingml/2006/main" prst="roundRect">
            <a:avLst>
              <a:gd name="adj" fmla="val 1676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7CA1A-4B3E-461F-99BE-0E36DA5B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52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6AAE7-0E7E-4E3C-9C0B-F36AA55E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526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7655C-789C-471D-9915-A2F589DE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24050"/>
            <a:ext cx="3905250" cy="103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公開重みと同じ8層のバックボーンを生成する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7734A-7336-4724-90A3-04164DE2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32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257D1-CA8A-4C43-A6F9-DBA51EE1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32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6FED9-C89E-4C54-B742-CAF30601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3550"/>
            <a:ext cx="3905250" cy="103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タスク固有の出力層を除き、事前学習済み重みを読む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CC26F-A6EB-46AA-8BB1-058CC521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11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8F69B-C4C0-4D27-BB9B-62EF64E3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116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A6B4B-0872-4DD5-9D85-5BEE1578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83050"/>
            <a:ext cx="3905250" cy="103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以降は同じ学習ループでSimJEBへfine-tuneする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EB4B9-B9F2-4DC4-9E8B-F2C962A4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65722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e381a661b40bb"/>
          <a:stretch xmlns:a="http://schemas.openxmlformats.org/drawingml/2006/main"/>
        </p:blipFill>
        <p:spPr>
          <a:xfrm xmlns:a="http://schemas.openxmlformats.org/drawingml/2006/main">
            <a:off x="1991596" y="5381625"/>
            <a:ext cx="3389158" cy="7810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888C0-A6C8-4026-ADCE-9CF5390D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43"/>
          </a:solidFill>
          <a:ln xmlns:a="http://schemas.openxmlformats.org/drawingml/2006/main" w="0">
            <a:solidFill>
              <a:srgbClr val="C843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3C740E-4024-4931-AD83-4E5B1AB2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911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バックボーン設定を変えたTransolverやGeoTransolverには、公開重みをそのまま使えない。</a:t>
            </a:r>
          </a:p>
        </p:txBody>
      </p:sp>
    </p:spTree>
    <p:extLst>
      <p:ext uri="{BB962C8B-B14F-4D97-AF65-F5344CB8AC3E}">
        <p14:creationId xmlns:p14="http://schemas.microsoft.com/office/powerpoint/2010/main" val="1376331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35484-A6C6-4008-BBD6-31EF8CE3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 /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554E0-29CA-43A0-A844-0398CF54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学習ループは通常のPyTorchと同じ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83020-B545-4B73-883D-027AF4A2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ED456-DEC2-470D-8BCD-00E3A2E9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6B1CD-3DFB-4819-94B3-0D26238E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953250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B0537-BBDD-4856-83BD-871D4740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Google Colab cell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571500" y="1838325"/>
            <a:ext cx="661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45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019D0-D251-4043-9BE2-DE7B3F74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66103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optimizer = torch.optim.AdamW(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model.parameters(), lr=1e-3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epoch in range(EPOCHS):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model.train()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for features, xyz, target in train_loader: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features = features.to(device)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xyz = xyz.to(device)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target = target.to(device)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pred = model(features, embedding=xyz)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loss = torch.nn.functional.mse_loss(pred, target)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optimizer.zero_grad()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loss.backward()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optimizer.step()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E89BE-F52E-4639-B355-4F9777E2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このコードで何をしているか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F080A-D07A-4554-AE9C-19825A04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28800"/>
            <a:ext cx="4171950" cy="36957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6BA46-93E7-47F3-A169-39725E86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49935-CC93-4C19-B424-8EE34CFD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4BEFA-349C-4504-A4CA-5421197A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352425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入力をモデルへ渡し、各点の4物理量を得る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C6F27-A2BE-44DD-9D99-E47D6D8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273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6A411-B210-4209-A47B-376CBA0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27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30D92-0C4E-491A-BBB8-85B1D3CA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24163"/>
            <a:ext cx="352425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正規化空間で予測と正解の誤差を計算する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09E0D-8E04-4BD4-968D-8677DDC6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BBDB8-3906-4B6E-ADD5-7BE8965D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33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9A353-3DA3-486A-B650-877AE3A6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05225"/>
            <a:ext cx="352425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backwardでTransolver内部の重みを更新する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DBD028-9F26-4A49-AEB7-7511A74B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1486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13ECC-3FBA-4E48-B6C8-AFF6AE38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1486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66FE72-49E4-4E59-BFB6-DB54DC4F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86288"/>
            <a:ext cx="352425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validationは同じ流れから重み更新だけを外す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298637-A781-4509-A82D-183922A2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150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01083-BC27-48E5-9E8B-B33E6477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71500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828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PhysicsNeMoモデルもtorch.nn.Moduleとして扱える。</a:t>
            </a:r>
          </a:p>
        </p:txBody>
      </p:sp>
    </p:spTree>
    <p:extLst>
      <p:ext uri="{BB962C8B-B14F-4D97-AF65-F5344CB8AC3E}">
        <p14:creationId xmlns:p14="http://schemas.microsoft.com/office/powerpoint/2010/main" val="19130324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B5261-1F92-4D85-A425-DB244717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05 / 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7AF06-66C8-4292-9022-56BFD72B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Lossはtrainとvalidationを並べて見る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A5CAB-0E19-44AE-9F57-ECA850D6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6A71D-C104-409D-AE95-E79D884A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6858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272115975f47e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39D0D-9129-45D8-B1EE-6593BE7A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見るポイント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19C56-2E16-4BA9-8442-198AB8E9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4171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28AAF-5514-4EEF-93FF-5E2013CC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両方が低下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DB1AA-5141-444E-80BF-1F966A24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383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学習は進んでいる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67F74-0E65-4FB6-918E-710F99C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4171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1DA68-A40D-4009-AACE-EB5EA874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051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9E0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59E0B"/>
                </a:solidFill>
                <a:latin typeface="Yu Gothic"/>
                <a:ea typeface="Yu Gothic"/>
                <a:cs typeface="Yu Gothic"/>
              </a:rPr>
              <a:t>trainだけ低下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B59C8-C3B0-4EF1-B175-3AAD24E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051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過学習の可能性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633CA-517C-4421-896D-A8B64BC9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4171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683D6-592F-414A-95E2-112C1A72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71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両方が停滞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E7011-C2AA-4BAF-AFF3-DE1A0898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719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入力・正規化・学習率を確認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925C0-68F0-475A-88C1-0CB2775E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9115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43"/>
          </a:solidFill>
          <a:ln xmlns:a="http://schemas.openxmlformats.org/drawingml/2006/main" w="0">
            <a:solidFill>
              <a:srgbClr val="C843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D1323-33DA-4A85-ADA0-21F4C4B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9115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このグラフは読み方を示す模式図で、SimJEB実験結果ではない。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8409236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C9BAA-9C3F-475F-B61C-7FD2FB3F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05 / 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15367-5990-4D7D-A9C4-B4E7577A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再利用に必要な情報を一緒に保存する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50FD1-397B-4E62-84A9-908D85DB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7B410-5B4C-4F5B-A045-014B4C53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04DC3-7426-4246-A416-7EDED90C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953250" cy="4572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32682-08FE-4DAE-916A-AEDF8354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Google Colab cell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571500" y="1838325"/>
            <a:ext cx="661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45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02077-8861-4469-926A-8071B85A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66103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torch.save({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"model": model.state_dict(),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"model_args": {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"functional_dim": 3,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"embedding_dim": 3,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"out_dim": 4,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"normalization": stats,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"epoch": epoch,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"val_loss": val_loss,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}, CHECKPOINT)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checkpoint = torch.load(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CHECKPOINT, map_location=device, weights_only=True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model.load_state_dict(checkpoint["model"])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223BF-5A10-4F20-8DEB-24836B95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このコードで何をしているか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085D8-C2AE-4512-A947-2C8257F8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28800"/>
            <a:ext cx="4171950" cy="36004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69EBE-8646-4F4A-A586-02D7F99E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0A0E0-AB3C-4389-9596-51E11DC3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F879C-D4EE-4327-ABCC-CF8294DF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学習済み重みだけでなくモデル設定も保存する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EB4B4-C861-40B0-91A7-91C1C1AF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356EC-41C5-42A2-87B6-BCA1EEAF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5BA56D-6EB6-41CF-B0FD-0553E83D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正規化情報を保存し、推論時の尺度をそろえる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FC264-59F8-40F0-A762-9A948A88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A2407-34B2-4E8E-9A6B-E791E9AE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22597-35E2-447C-9EB8-D1662CB1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epochとval_lossを残して比較可能にする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25F59-619D-4683-94E6-7622F6D6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007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59CAD-7034-47B1-93D8-31C3510E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007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872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重みだけ保存すると、後で入力尺度を再現できない。</a:t>
            </a:r>
          </a:p>
        </p:txBody>
      </p:sp>
    </p:spTree>
    <p:extLst>
      <p:ext uri="{BB962C8B-B14F-4D97-AF65-F5344CB8AC3E}">
        <p14:creationId xmlns:p14="http://schemas.microsoft.com/office/powerpoint/2010/main" val="21110586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6E06D-726E-42E2-991D-F9739168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05 / 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DE14A-17B4-463F-B97C-47802C33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推論では学習を止め、元の単位へ戻す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B9C4B-FD30-4BDE-B51B-B104D048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E27A3-7CA5-4E15-A43A-75576E05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5F95D-21E7-43FE-8E1C-A31258C4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953250" cy="4572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09032-E538-4384-A9E8-035F7375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Google Colab cell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571500" y="1838325"/>
            <a:ext cx="661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45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2A2EA-972D-4F40-97BF-F7178AED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66103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model.eval()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with torch.inference_mode():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pred_norm = model(features, embedding=xyz)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mean = checkpoint["normalization"]["target_mean"].to(device)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std = checkpoint["normalization"]["target_std"].to(device)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pred = pred_norm * std + mean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ux, uy, uz = pred[..., 0], pred[..., 1], pred[..., 2]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vm_stress = pred[...,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E421A-676C-4034-A01E-D831FD4D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このコードで何をしているか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CB9BA-574B-476F-A7D5-B7D32C02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28800"/>
            <a:ext cx="4171950" cy="36004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2E825-8F41-4FF2-A674-D1614CEF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AB2FE-C50E-4225-BD81-8F525286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6EDFA-4D9A-4767-8DAD-FA73AAE3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evalでDropoutなどを推論モードへ切り替える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F8D7E-E654-444E-B8C9-E75902D8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C9261-417D-478C-8A9F-F0659320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15078-93FF-4B85-9514-A5D3D2A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inference_modeで勾配計算を止めて軽くする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B074C-A478-41A7-9FE7-DA41C172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A8CFE-4C8C-496D-A7FE-10020B6C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B402A-9B99-4383-BF18-B657A19C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予測値を逆正規化し、変位・応力の単位へ戻す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D8617-D34A-4C7B-A1B0-77E83578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007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400BA2-6611-46BE-B30B-4FF8E679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007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設計判断に使うのは、逆正規化後の物理量。</a:t>
            </a:r>
          </a:p>
        </p:txBody>
      </p:sp>
    </p:spTree>
    <p:extLst>
      <p:ext uri="{BB962C8B-B14F-4D97-AF65-F5344CB8AC3E}">
        <p14:creationId xmlns:p14="http://schemas.microsoft.com/office/powerpoint/2010/main" val="102119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71EFA-D9CE-4512-8A5D-299BDA89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05 / 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BD0A0-AB71-49CB-80A1-DF96464D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評価はFEA・予測・誤差を同じ尺度で並べる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23103-7F55-416A-A5F7-0846359B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B220D-485F-46E2-A13F-E2C4751D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080D1-1C80-490F-8554-3B9DE4F5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6858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fedbaf8d44001"/>
          <a:stretch xmlns:a="http://schemas.openxmlformats.org/drawingml/2006/main"/>
        </p:blipFill>
        <p:spPr>
          <a:xfrm xmlns:a="http://schemas.openxmlformats.org/drawingml/2006/main">
            <a:off x="403713" y="1447800"/>
            <a:ext cx="6850673" cy="314325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EC7FC-826E-4D06-8963-E358C1A6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76375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Notebookで作る比較図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104F5-FF48-4036-8AD8-020D6842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41719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3CB6C-3103-43BA-84A4-B8840980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02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FEA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DB022-EBAE-4D33-919D-37576CA6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0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正解コンター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F0BE8-33CC-4F95-A842-88E0E1AC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41719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EE825-1AD0-4C82-88C1-15BF5120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90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73175-179E-4DE1-925E-068A57A1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908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モデル予測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8547-12FE-4376-A98B-98AE89D4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9550"/>
            <a:ext cx="41719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6F82D-30CC-4A6E-BF0E-6C51098F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814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9E0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59E0B"/>
                </a:solidFill>
                <a:latin typeface="Yu Gothic"/>
                <a:ea typeface="Yu Gothic"/>
                <a:cs typeface="Yu Gothic"/>
              </a:rPr>
              <a:t>Absolute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3028C-7F4F-41E6-9B15-D20BB79E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814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|予測 − 正解|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6D02C-8D69-49A1-8D7E-01BADD3E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75"/>
          </a:solidFill>
          <a:ln xmlns:a="http://schemas.openxmlformats.org/drawingml/2006/main" w="0">
            <a:solidFill>
              <a:srgbClr val="159A7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DE893-30A0-45C5-9952-E101416C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1970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カラースケールと視点を固定し、最大値だけでなく誤差分布を見る。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84A44-7902-4772-BBF7-BF2717FD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左図はSimJEBデータセットの例。学習結果そのものではない。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5859434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A6060-637A-43CD-9D3A-7AEC397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06 / 発展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5C91A-B72F-40C5-9895-4F44C4D9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GeoTransolverへ替えても、学習ループは同じ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E3C9F-CC7A-4498-BB41-BED128E1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B77F6-7539-4FD4-BD8C-DE3FD341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CEA2A-2499-415C-BD99-1D7F543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953250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809E3-A9F1-458A-90F1-B62BA8A6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Google Colab cell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571500" y="1838325"/>
            <a:ext cx="661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45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963D1-9380-42EA-9DD4-F990072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66103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physicsnemo.experimental.models.geotransolver import GeoTransolver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GeoTransolver(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functional_dim=3,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geometry_dim=3,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out_dim=4,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include_local_features=True,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use_te=False,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).to(device)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geometry_points = xyz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pred = model(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local_embedding=features,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geometry=geometry_points,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local_positions=xyz,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796F1-11D4-44C0-B78B-87EA4258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このコードで何をしているか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F02D6-CD73-4A75-AD31-6EBC783A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28800"/>
            <a:ext cx="4171950" cy="36004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D6EA9-E46B-481D-A9BD-22B0B23D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A28D2-40CF-4B7A-868A-3A94F7EE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5EF43-FDBC-4098-B5D6-356EC90F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形状点群geometryを独立した入力として渡す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A433F-9B22-46CD-AD32-0588B629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30F1B-7181-4F4F-BDF3-7DD47DE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C8076-5E93-4C0E-BF87-451291BC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局所点featuresと位置xyzを別々に指定する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414B1-49EC-4596-9F27-B73B1C4D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C21B1-84B6-41E7-9049-F9F814D4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88C19-499F-4D71-B5C8-3D946FC6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Loss・optimizer・保存・推論の枠組みは共通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6FAEC-6EB3-4391-92B9-46BA314E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2D42E-FD93-4D74-9F6B-BBA3E07A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197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差分の中心は、モデル生成とforwardの入力。</a:t>
            </a:r>
          </a:p>
        </p:txBody>
      </p:sp>
    </p:spTree>
    <p:extLst>
      <p:ext uri="{BB962C8B-B14F-4D97-AF65-F5344CB8AC3E}">
        <p14:creationId xmlns:p14="http://schemas.microsoft.com/office/powerpoint/2010/main" val="6743444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C4479-A8B1-44A8-ACCC-854CC0AB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07 / 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22635-8CA4-46F8-BBAA-70ACE340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最初の一歩は、モデルよりデータ接続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14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1C8BF-5DA4-4074-B3E7-D9E467FE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 Study / SimJEB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6E1C4-4684-404C-8AED-09FB7477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D49AB-32C7-40DD-851A-E160304B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242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9F4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A53FB-27F9-4B6D-B9E9-3D4070A5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C01F0-BEB4-4791-80CA-10F80347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呼び出す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04C27-139F-4D88-AF25-C4382F21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Transolver / GeoTransolverは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PhysicsNeMoに実装済み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52389-5177-4A29-9479-FACD0434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35242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6F266-0BFB-49BA-882A-7FF101F2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478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9E0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F59E0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3CEA0-A0DF-46DD-A341-03A5F268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9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整える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54073-5F6F-485E-BFF2-B42FEE25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SimJEBをxyz・features・targetの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3配列へ変換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5A2B1-8C83-4446-9F8D-0A598EDC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5242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159A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2D2E4-C33E-4013-BDC3-24A2633A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9A75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59A75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3739A-5666-4446-A207-1188585F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9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一周する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2A2A1-B8BE-471E-B4DA-2D21D470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学習 → 保存 → 推論 → 可視化を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同じNotebookで再現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D9C91-AB46-40AF-AC7B-6189455C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GeoPTは公開重みと同じTransolver構成で利用する。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パラメータ変更時やGeoTransolverでは、公開重みをそのまま使わない。</a:t>
            </a:r>
          </a:p>
        </p:txBody>
      </p:sp>
    </p:spTree>
    <p:extLst>
      <p:ext uri="{BB962C8B-B14F-4D97-AF65-F5344CB8AC3E}">
        <p14:creationId xmlns:p14="http://schemas.microsoft.com/office/powerpoint/2010/main" val="548480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2026-08-20T20:41:12.2980000Z</dcterms:created>
  <dcterms:modified xsi:type="dcterms:W3CDTF">2026-08-20T20:41:12.2980000Z</dcterms:modified>
</coreProperties>
</file>